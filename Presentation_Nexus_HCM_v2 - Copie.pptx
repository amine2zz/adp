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75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117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ESPRIT  —  Ecole Superieure Privee d'Ingenierie et de Technologies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65760" y="47548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Report  ·  Academic Year 2025 –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7132320" cy="0"/>
          </a:xfrm>
          <a:prstGeom prst="line">
            <a:avLst/>
          </a:prstGeom>
          <a:noFill/>
          <a:ln w="7620">
            <a:solidFill>
              <a:srgbClr val="3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7132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6000" dirty="0"/>
          </a:p>
        </p:txBody>
      </p:sp>
      <p:sp>
        <p:nvSpPr>
          <p:cNvPr id="8" name="Shape 6"/>
          <p:cNvSpPr/>
          <p:nvPr/>
        </p:nvSpPr>
        <p:spPr>
          <a:xfrm>
            <a:off x="365760" y="2212848"/>
            <a:ext cx="36576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3317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Human Capital Management System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End-of-Studies Internship  ·  ADP ES Tunisie  ·  April – September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7132320" cy="1481328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291840"/>
            <a:ext cx="54864" cy="148132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015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578608" y="34015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  ·  SAE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730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578608" y="37307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 ·  Sana Business Center, Tunis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40599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Supervisor: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78608" y="40599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  ·  sayed.ben.fraj@adp.com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389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Supervisor: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578608" y="43891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Amani Lamine  ·  ESPRIT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 / 23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59536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Introduction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59536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host organization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59536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Context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HCM?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9536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9536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points identified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9536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9536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comparison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9536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overview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7472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9536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59536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design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" y="44622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45902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5902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9536" y="45902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9536" y="48280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HR Engine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73168" y="10241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1024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285232" y="10241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85232" y="12618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 &amp; sprints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285232" y="149047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73168" y="161848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73168" y="1618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285232" y="161848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85232" y="185623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showcase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285232" y="208483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168" y="221284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73168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285232" y="22128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85232" y="245059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&amp; RBAC design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85232" y="267919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73168" y="280720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73168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285232" y="28072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285232" y="304495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model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5285232" y="327355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773168" y="340156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73168" y="34015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85232" y="34015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5285232" y="363931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results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285232" y="3867912"/>
            <a:ext cx="3657600" cy="0"/>
          </a:xfrm>
          <a:prstGeom prst="line">
            <a:avLst/>
          </a:prstGeom>
          <a:noFill/>
          <a:ln w="5080">
            <a:solidFill>
              <a:srgbClr val="E9ECE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773168" y="3995928"/>
            <a:ext cx="420624" cy="420624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73168" y="39959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285232" y="399592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285232" y="4233672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 &amp; next steps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2 / 23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Company — ADP ES Tunisie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60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" y="2359152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— Automatic Data Processing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472" y="270662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  ·  </a:t>
            </a: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140+ 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 ·  Founded </a:t>
            </a: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1949</a:t>
            </a: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Roseland, NJ, USA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7472" y="3035808"/>
            <a:ext cx="4754880" cy="0"/>
          </a:xfrm>
          <a:prstGeom prst="line">
            <a:avLst/>
          </a:prstGeom>
          <a:noFill/>
          <a:ln w="8890">
            <a:solidFill>
              <a:srgbClr val="E9EC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312724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 — Sana Business Center, Boulevard de l'Environnement, Tunis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7472" y="3419856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Engineering Center for the MENA region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the development of global HR software platforms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21808" y="960120"/>
            <a:ext cx="3474720" cy="2944368"/>
          </a:xfrm>
          <a:prstGeom prst="roundRect">
            <a:avLst>
              <a:gd name="adj" fmla="val 3106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21808" y="960120"/>
            <a:ext cx="347472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21808" y="960120"/>
            <a:ext cx="347472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1024128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Details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21808" y="1481328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536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39712" y="1536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/ HR Solutions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21808" y="1883664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839712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Platform Development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321808" y="2286000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40680" y="2340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839712" y="23408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Tunis, Tunisia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21808" y="2688336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743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839712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ADP.es@adp.com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321808" y="3090672"/>
            <a:ext cx="347472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839712" y="31455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+216 71 110 606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321808" y="3493008"/>
            <a:ext cx="3474720" cy="384048"/>
          </a:xfrm>
          <a:prstGeom prst="rect">
            <a:avLst/>
          </a:prstGeom>
          <a:solidFill>
            <a:srgbClr val="F0F2F4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40680" y="35478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839712" y="3547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3 / 23</a:t>
            </a:r>
            <a:endParaRPr lang="en-US" sz="8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A7C07D38-E8DC-AAAE-E518-CD7276744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6663" y="893064"/>
            <a:ext cx="1916497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 Capital Management?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1430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60120"/>
            <a:ext cx="73152" cy="11430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005840"/>
            <a:ext cx="8046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"Human Capital Management (HCM) is a set of practices and tools that organizations use to recruit, develop, manage, and retain employees, transforming the workforce from a cost center into a strategic competitive advantage."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747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Employees, their skills, career paths, experience and potential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2783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2783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0215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783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leave, attendance, payroll, performance cycles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08192" y="2331720"/>
            <a:ext cx="2743200" cy="2514600"/>
          </a:xfrm>
          <a:prstGeom prst="rect">
            <a:avLst/>
          </a:prstGeom>
          <a:solidFill>
            <a:srgbClr val="252545"/>
          </a:solidFill>
          <a:ln w="10160">
            <a:solidFill>
              <a:srgbClr val="3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08192" y="2331720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248716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108192" y="31821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82512" y="3566160"/>
            <a:ext cx="21945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08192" y="36393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 to drive strategic HR decisions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4 / 23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of HR management in many enterprises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14400"/>
            <a:ext cx="8449056" cy="621792"/>
          </a:xfrm>
          <a:prstGeom prst="rect">
            <a:avLst/>
          </a:prstGeom>
          <a:solidFill>
            <a:srgbClr val="F8D7DA"/>
          </a:solidFill>
          <a:ln w="12700">
            <a:solidFill>
              <a:srgbClr val="F5C2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14400"/>
            <a:ext cx="73152" cy="62179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960120"/>
            <a:ext cx="8138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"Managing HR in large enterprises is still manual, fragmented, and inefficient — leading to wasted time, data inconsistencies, and poor employee experience."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71907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🗂️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4183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Database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3891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data lives in spreadsheets and email threads, leading to duplication and inconsistency across teams.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8211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82112" y="171907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✉️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77647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Leave Approval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27355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sent by email with no workflow, no tracking, and slow response times from managers.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16752" y="171907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16752" y="171907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0819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611112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Attendance Sheets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08192" y="222199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on who is present, absent, or working overtime. Impossible to audit.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4747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3182112"/>
            <a:ext cx="272491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🔓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4183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 Control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3891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payroll and performance data is accessible to anyone with a shared folder link.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8211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82112" y="3182112"/>
            <a:ext cx="272491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7355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🚪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77647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Employee Onboarding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27355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receive credentials through insecure channels, with no automated account provisioning.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16752" y="3182112"/>
            <a:ext cx="2724912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16752" y="3182112"/>
            <a:ext cx="272491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08192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6611112" y="3291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08192" y="3685032"/>
            <a:ext cx="2514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 of who did what. Zero accountability or compliance traceability for HR decisions.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5 / 23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of Existing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8872" y="930656"/>
            <a:ext cx="85039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analysis of current HR management approaches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" y="930656"/>
            <a:ext cx="2468880" cy="288036"/>
          </a:xfrm>
          <a:prstGeom prst="rect">
            <a:avLst/>
          </a:prstGeom>
          <a:solidFill>
            <a:srgbClr val="1A1A2E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930656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33472" y="930656"/>
            <a:ext cx="1463040" cy="288036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88336" y="930656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0" y="930656"/>
            <a:ext cx="1508760" cy="288036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9664" y="93065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Tools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32704" y="930656"/>
            <a:ext cx="1691640" cy="288036"/>
          </a:xfrm>
          <a:prstGeom prst="rect">
            <a:avLst/>
          </a:prstGeom>
          <a:solidFill>
            <a:srgbClr val="343A40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87568" y="930656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42632" y="930656"/>
            <a:ext cx="1554480" cy="288036"/>
          </a:xfrm>
          <a:prstGeom prst="rect">
            <a:avLst/>
          </a:prstGeom>
          <a:solidFill>
            <a:srgbClr val="D0271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97496" y="930656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6304" y="1406144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" y="1406144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33472" y="1406144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88336" y="1406144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0" y="1406144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9664" y="1406144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632704" y="1406144"/>
            <a:ext cx="16916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87568" y="1406144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42632" y="1406144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97496" y="1406144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46304" y="1881632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1168" y="1881632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33472" y="1881632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88336" y="1881632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Email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0" y="1881632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9664" y="1881632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32704" y="1881632"/>
            <a:ext cx="16916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1881632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42632" y="1881632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97496" y="1881632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46304" y="2357120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1168" y="2357120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633472" y="2357120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88336" y="2357120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Paper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14800" y="2357120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69664" y="2357120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Limited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632704" y="2357120"/>
            <a:ext cx="16916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687568" y="2357120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342632" y="2357120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97496" y="2357120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Digital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46304" y="2832608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1168" y="2832608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633472" y="2832608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88336" y="2832608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114800" y="2832608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9664" y="2832608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Basic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632704" y="2832608"/>
            <a:ext cx="16916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87568" y="2832608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Advanced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42632" y="2832608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97496" y="2832608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3-Level RBAC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46304" y="3308096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" y="3308096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Auto.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2633472" y="3308096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88336" y="3308096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Manual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114800" y="3308096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169664" y="3308096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Partial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632704" y="3308096"/>
            <a:ext cx="16916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3308096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Yes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7342632" y="3308096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97496" y="3308096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Email Token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46304" y="3783584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01168" y="3783584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Reports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2633472" y="3783584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88336" y="3783584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114800" y="3783584"/>
            <a:ext cx="150876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69664" y="3783584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5632704" y="3783584"/>
            <a:ext cx="169164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687568" y="3783584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Add-on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342632" y="3783584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97496" y="3783584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Built-in GPT-4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46304" y="4259072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01168" y="4259072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2633472" y="4259072"/>
            <a:ext cx="14630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88336" y="4259072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114800" y="4259072"/>
            <a:ext cx="150876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169664" y="4259072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None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5632704" y="4259072"/>
            <a:ext cx="169164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687568" y="4259072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Extra module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7342632" y="4259072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97496" y="4259072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 pipeline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146304" y="4734560"/>
            <a:ext cx="2468880" cy="288036"/>
          </a:xfrm>
          <a:prstGeom prst="rect">
            <a:avLst/>
          </a:prstGeom>
          <a:solidFill>
            <a:srgbClr val="F8F9F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01168" y="4734560"/>
            <a:ext cx="23591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2633472" y="4734560"/>
            <a:ext cx="1463040" cy="288036"/>
          </a:xfrm>
          <a:prstGeom prst="rect">
            <a:avLst/>
          </a:prstGeom>
          <a:solidFill>
            <a:srgbClr val="D1E7D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88336" y="4734560"/>
            <a:ext cx="13533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Free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4114800" y="4734560"/>
            <a:ext cx="1508760" cy="288036"/>
          </a:xfrm>
          <a:prstGeom prst="rect">
            <a:avLst/>
          </a:prstGeom>
          <a:solidFill>
            <a:srgbClr val="FFF3CD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169664" y="4734560"/>
            <a:ext cx="139903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Moderate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632704" y="4734560"/>
            <a:ext cx="1691640" cy="288036"/>
          </a:xfrm>
          <a:prstGeom prst="rect">
            <a:avLst/>
          </a:prstGeom>
          <a:solidFill>
            <a:srgbClr val="F8D7DA"/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87568" y="4734560"/>
            <a:ext cx="158191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Very High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7342632" y="4734560"/>
            <a:ext cx="1554480" cy="28803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5080">
            <a:solidFill>
              <a:srgbClr val="E9ECE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97496" y="4734560"/>
            <a:ext cx="144475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Custom / Low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8302752" y="4835144"/>
            <a:ext cx="548640" cy="1080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6 / 23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HCM: The Proposed Solution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47472" y="960120"/>
            <a:ext cx="84490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 ·  Three Roles  ·  All HR Operations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920490" y="1357882"/>
            <a:ext cx="1348740" cy="733553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920490" y="1389378"/>
            <a:ext cx="1348740" cy="6563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325880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HR Admin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lifecycle &amp; onboarding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&amp; org management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8404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Leave, advance approvals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&amp; recruitment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84048" y="38313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report generation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84048" y="4251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configuration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91840" y="2229104"/>
            <a:ext cx="2606040" cy="257556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91840" y="2229104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83280" y="23571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Manager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268630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supervision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383280" y="2942336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01568" y="30520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dashboard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01568" y="34726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&amp; advance approvals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401568" y="389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attendance calendar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401568" y="4313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evaluations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09360" y="1325880"/>
            <a:ext cx="2606040" cy="347472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1325880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453896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Employee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178308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 portal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400800" y="2039112"/>
            <a:ext cx="242316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19088" y="21488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profile &amp; documents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419088" y="256946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submission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19088" y="29900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requests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419088" y="34107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clock-in / clock-out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7 / 23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Decoupled three-tier architecture with external AI integration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7315200" cy="1170432"/>
          </a:xfrm>
          <a:prstGeom prst="rect">
            <a:avLst/>
          </a:prstGeom>
          <a:solidFill>
            <a:srgbClr val="FEE2E2"/>
          </a:solidFill>
          <a:ln w="1524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424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 — Angular 17  (Port 4200)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03704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04488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0271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05272" y="14081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359152"/>
            <a:ext cx="7315200" cy="1170432"/>
          </a:xfrm>
          <a:prstGeom prst="rect">
            <a:avLst/>
          </a:prstGeom>
          <a:solidFill>
            <a:srgbClr val="EDE9FE"/>
          </a:solidFill>
          <a:ln w="15240">
            <a:solidFill>
              <a:srgbClr val="6F42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140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Layer — Spring Boot 3 / Java 21  (Port 8085)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Controllers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04488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Repositories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5272" y="2779776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Security/JWT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730752"/>
            <a:ext cx="7315200" cy="1170432"/>
          </a:xfrm>
          <a:prstGeom prst="rect">
            <a:avLst/>
          </a:prstGeom>
          <a:solidFill>
            <a:srgbClr val="F8F9FA"/>
          </a:solidFill>
          <a:ln w="15240">
            <a:solidFill>
              <a:srgbClr val="6C757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85616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 — MySQL 8  (XAMPP)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Employee/Dept Tables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70632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Leave/Advance Tables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6C757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38344" y="4151376"/>
            <a:ext cx="21762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Job/Application Tables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931920" y="21762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69080" y="21762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REST / JSON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931920" y="3547872"/>
            <a:ext cx="0" cy="164592"/>
          </a:xfrm>
          <a:prstGeom prst="line">
            <a:avLst/>
          </a:prstGeom>
          <a:noFill/>
          <a:ln w="15240">
            <a:solidFill>
              <a:srgbClr val="6C757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69080" y="354787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JDBC / JPA / Hibernate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solidFill>
            <a:srgbClr val="FFFBEB"/>
          </a:solidFill>
          <a:ln w="15240">
            <a:solidFill>
              <a:srgbClr val="FCD3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0" y="2359152"/>
            <a:ext cx="1097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680960" y="2944368"/>
            <a:ext cx="182880" cy="0"/>
          </a:xfrm>
          <a:prstGeom prst="line">
            <a:avLst/>
          </a:prstGeom>
          <a:noFill/>
          <a:ln w="15240">
            <a:solidFill>
              <a:srgbClr val="FCD34D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7360920" y="2798064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calls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8 / 23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Integration: Smart HR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AI-powered features built into the platform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32688"/>
            <a:ext cx="8449056" cy="56692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932688"/>
            <a:ext cx="8449056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326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Nexus HCM integrates OpenAI GPT-4 to transform raw HR data into actionable intelligence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" y="1627632"/>
            <a:ext cx="41148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AI-Powered HR Report Generation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12848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clicks "Generate Report"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642616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aggregates: headcount, leave rates, attendance, dept breakdown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bundled into a structured prompt for GPT-4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02152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229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returns natural-language executive HR summary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292608" cy="29260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displayed instantly in the dashboard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solidFill>
            <a:srgbClr val="CCFBF1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81728" y="1627632"/>
            <a:ext cx="41148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81728" y="1627632"/>
            <a:ext cx="411480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173736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00600" y="2103120"/>
            <a:ext cx="3794760" cy="0"/>
          </a:xfrm>
          <a:prstGeom prst="line">
            <a:avLst/>
          </a:prstGeom>
          <a:noFill/>
          <a:ln w="6350">
            <a:solidFill>
              <a:srgbClr val="E9EC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00600" y="2212848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166360" y="223113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submits application with CV and cover letter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00600" y="2642616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0600" y="2642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66360" y="2660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extracts text from CV and cover letter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072384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166360" y="30906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compares content against job requirements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0600" y="3502152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3502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166360" y="35204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match score 0–100 with skill highlights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00600" y="3931920"/>
            <a:ext cx="292608" cy="292608"/>
          </a:xfrm>
          <a:prstGeom prst="ellipse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00600" y="3931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66360" y="395020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badge appears on each application row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solidFill>
            <a:srgbClr val="FFE5C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0600" y="448056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✅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" y="4864608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OpenAI GPT-4 API — integrated via Spring Boot RestTemplate / HTTP Client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9 / 23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Agile Scrum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delivery with continuous supervisor feedback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60120"/>
            <a:ext cx="438912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7472" y="9601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56048" y="960120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Agile Scrum?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956048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Iterative delivery of functional modules each sprint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956048" y="17647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Continuous feedback from company supervisor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56048" y="21762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Adapts quickly to evolving requirements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956048" y="25877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Each sprint ends with a working, tested increment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7472" y="382219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Planning  ·  01 April – 30 September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4160520"/>
            <a:ext cx="1627632" cy="7498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01/04–14/04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47472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Architecture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066544" y="4160520"/>
            <a:ext cx="1627632" cy="7498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66544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6544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15/04–30/04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066544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Employees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785616" y="4160520"/>
            <a:ext cx="1627632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85616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85616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01/05–31/05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785616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Operations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04688" y="4160520"/>
            <a:ext cx="1627632" cy="7498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04688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04688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01/06–31/07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504688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Recruitment &amp; AI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223760" y="4160520"/>
            <a:ext cx="1627632" cy="7498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23760" y="418795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23760" y="4480560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01/08–30/09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223760" y="4700016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Deploy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10 / 23</a:t>
            </a:r>
            <a:endParaRPr lang="en-US" sz="800" dirty="0"/>
          </a:p>
        </p:txBody>
      </p:sp>
      <p:pic>
        <p:nvPicPr>
          <p:cNvPr id="36" name="Image 35">
            <a:extLst>
              <a:ext uri="{FF2B5EF4-FFF2-40B4-BE49-F238E27FC236}">
                <a16:creationId xmlns:a16="http://schemas.microsoft.com/office/drawing/2014/main" id="{1C236F4F-E5F5-DAC6-2A4D-981762C3C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24" y="1188720"/>
            <a:ext cx="4217615" cy="22037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HR Administration (1/3)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Employee Management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List &amp; Create Form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 lifecycle  ·  Department assignment  ·  Activation email  ·  Role management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Org Chart — Collapsible Tree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Org Chart, Expanded View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tree algorithm  ·  Collapse/expand subtrees  ·  Quick manager reassignment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Leave &amp; Salary Advance Management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Leave Requests Tab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APPROVED/REJECTED  ·  Badge notifications  ·  Reviewer notes per request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Performance Evaluation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Performance Module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campaigns  ·  Per-employee scoring  ·  Period-based history tracking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11 / 23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Recruitment &amp; AI (2/3)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Board (HR Admin Panel)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Job Board, Position List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→ OPEN → CLOSED lifecycle  ·  Hiring manager assignment  ·  Application pipeline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Public Careers Page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Careers Page, Position Cards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login required  ·  Department/type filters  ·  Opens detail in new tab  ·  CV upload (5 MB)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HR Report Generation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AI Report in HR 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generation  ·  GPT-4 natural-language summary  ·  Workforce insights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Intelligent CV Screening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Application List with AI Scores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 ·  Skill highlights  ·  Gap analysis  ·  Score badge on each row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12 / 23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— Manager &amp; Employee Portals (3/3)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Manager Dashboard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Manager Dashboard ]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overview  ·  Leave approvals  ·  Weekly attendance calendar  ·  Performance reviews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81728" y="9601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81728" y="9601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91456" y="10698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Dynamic System Configuration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91456" y="14173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4791456" y="17556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System Config Panel ]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91456" y="25146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(logo, colors, name)  ·  Propagates to all pages in real time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Employee Self-Service Portal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Employee My-Dashboard ]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  ·  Leave requests  ·  Salary advance requests  ·  Clock-in/out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81728" y="3017520"/>
            <a:ext cx="411480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81728" y="3017520"/>
            <a:ext cx="4114800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312724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Attendance &amp; Clock System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791456" y="3474720"/>
            <a:ext cx="3895344" cy="10058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4791456" y="3813048"/>
            <a:ext cx="3895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Screenshot: Attendance Tracker ]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91456" y="4572000"/>
            <a:ext cx="3895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check-in / check-out  ·  Per-employee daily log  ·  Manager team calendar view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13 / 23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1744" y="0"/>
            <a:ext cx="600075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41744" y="822960"/>
            <a:ext cx="600075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296" y="91440"/>
            <a:ext cx="55806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Architecture — JWT &amp; RBAC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24016" y="987552"/>
            <a:ext cx="960120" cy="47548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24016" y="98755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55536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135696" y="987552"/>
            <a:ext cx="960120" cy="47548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35696" y="98755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7216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147376" y="987552"/>
            <a:ext cx="960120" cy="47548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47376" y="98755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JwtFilter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78896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159056" y="987552"/>
            <a:ext cx="960120" cy="47548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59056" y="98755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0576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8170736" y="987552"/>
            <a:ext cx="960120" cy="4754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170736" y="987552"/>
            <a:ext cx="960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02256" y="1463040"/>
            <a:ext cx="0" cy="3566160"/>
          </a:xfrm>
          <a:prstGeom prst="line">
            <a:avLst/>
          </a:prstGeom>
          <a:noFill/>
          <a:ln w="7620">
            <a:solidFill>
              <a:srgbClr val="000000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855536" y="1719072"/>
            <a:ext cx="1320165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576" y="1517904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94064" y="1673352"/>
            <a:ext cx="60008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67216" y="2121408"/>
            <a:ext cx="2640330" cy="0"/>
          </a:xfrm>
          <a:prstGeom prst="line">
            <a:avLst/>
          </a:prstGeom>
          <a:noFill/>
          <a:ln w="15240">
            <a:solidFill>
              <a:srgbClr val="D0271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50096" y="192024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 (forward)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17424" y="2075688"/>
            <a:ext cx="60008" cy="91440"/>
          </a:xfrm>
          <a:prstGeom prst="ellipse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90576" y="2523744"/>
            <a:ext cx="1320165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67616" y="2322576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findByEmail()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829104" y="2478024"/>
            <a:ext cx="60008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90576" y="2907792"/>
            <a:ext cx="1320165" cy="0"/>
          </a:xfrm>
          <a:prstGeom prst="line">
            <a:avLst/>
          </a:prstGeom>
          <a:noFill/>
          <a:ln w="1524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67616" y="2706624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entity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890576" y="2862072"/>
            <a:ext cx="60008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67216" y="3310128"/>
            <a:ext cx="2640330" cy="0"/>
          </a:xfrm>
          <a:prstGeom prst="line">
            <a:avLst/>
          </a:prstGeom>
          <a:noFill/>
          <a:ln w="15240">
            <a:solidFill>
              <a:srgbClr val="19875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50096" y="3108960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+ role + name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867216" y="3264408"/>
            <a:ext cx="60008" cy="91440"/>
          </a:xfrm>
          <a:prstGeom prst="ellipse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536" y="3712464"/>
            <a:ext cx="1320165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576" y="3511296"/>
            <a:ext cx="24003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 localStorage, redirect to /dashboard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55536" y="3666744"/>
            <a:ext cx="60008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728" y="4645152"/>
            <a:ext cx="5544693" cy="32004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5456" y="4663440"/>
            <a:ext cx="54006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Role-Based Access Control:  HR Admin  →  /dashboard   |   Manager  →  /manager-dashboard   |   Employee  →  /my-dashboard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262176" y="4864608"/>
            <a:ext cx="360045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14 / 23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Highlights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 tokens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password hashing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endpoint protection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configuration per origin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token (UUID, one-time)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2783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Architecture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17 standalone components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layered 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4700" y="261924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 design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108192" y="987552"/>
            <a:ext cx="2743200" cy="36576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&amp; Data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157276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 via REST (HTTPS)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093976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base64 storage (LONGTEXT)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261518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1363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CSS variable injection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217920" y="36576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logging (all actions)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16 / 23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Timeline — April to September 2026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1645920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4747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01/04 – 14/04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9339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1755648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4747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505456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3255264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modeling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4005072"/>
            <a:ext cx="54864" cy="658368"/>
          </a:xfrm>
          <a:prstGeom prst="rect">
            <a:avLst/>
          </a:prstGeom>
          <a:solidFill>
            <a:srgbClr val="343A40"/>
          </a:solidFill>
          <a:ln w="12700">
            <a:solidFill>
              <a:srgbClr val="343A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084832" y="987552"/>
            <a:ext cx="1645920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08483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8483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15/04 – 30/04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73075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8483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84832" y="1755648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08483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84832" y="2505456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19456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8483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84832" y="3255264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9456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CRUD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8483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84832" y="4005072"/>
            <a:ext cx="54864" cy="65836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19456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Admin dashboard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22192" y="987552"/>
            <a:ext cx="1645920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82219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2219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01/05 – 31/05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46811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2219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22192" y="1755648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(collapsible)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82219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22192" y="2505456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workflow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82219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822192" y="3255264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3192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tracking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82219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22192" y="4005072"/>
            <a:ext cx="54864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3192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59552" y="987552"/>
            <a:ext cx="1645920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55955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55955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01/06 – 31/07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205472" y="1316736"/>
            <a:ext cx="91440" cy="0"/>
          </a:xfrm>
          <a:prstGeom prst="line">
            <a:avLst/>
          </a:prstGeom>
          <a:noFill/>
          <a:ln w="19050">
            <a:solidFill>
              <a:srgbClr val="E9ECE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55955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559552" y="1755648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66928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board (HR panel)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5955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559552" y="2505456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66928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careers page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55955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559552" y="3255264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6928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upload feature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555955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559552" y="4005072"/>
            <a:ext cx="54864" cy="65836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66928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7296912" y="987552"/>
            <a:ext cx="1645920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7296912" y="9875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296912" y="1316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01/08 – 30/09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7296912" y="1755648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296912" y="1755648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406640" y="1755648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dashboard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296912" y="2505456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296912" y="2505456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406640" y="2505456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portal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296912" y="3255264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296912" y="3255264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06640" y="325526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296912" y="4005072"/>
            <a:ext cx="1645920" cy="658368"/>
          </a:xfrm>
          <a:prstGeom prst="rect">
            <a:avLst/>
          </a:prstGeom>
          <a:solidFill>
            <a:srgbClr val="F8F9FA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296912" y="4005072"/>
            <a:ext cx="54864" cy="65836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06640" y="4005072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GitHub deploy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17 / 23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Multi-level testing strategy applied across all sprints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987552"/>
            <a:ext cx="2011680" cy="5486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96312" y="987552"/>
            <a:ext cx="2011680" cy="5486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9631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Scenarios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4515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45152" y="987552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4515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4515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Errors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93992" y="987552"/>
            <a:ext cx="201168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93992" y="987552"/>
            <a:ext cx="2011680" cy="5486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3992" y="112471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8/8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793992" y="16733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" y="22128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API Test Results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" y="2542032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542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valid credentials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18688" y="254203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+ JWT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41648" y="254203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47472" y="2926080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wrong password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18688" y="292608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041648" y="2926080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7472" y="3310128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310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employees (no token)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18688" y="3310128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041648" y="3310128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7472" y="3694176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369417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employee (manager)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218688" y="3694176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041648" y="3694176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47472" y="4078224"/>
            <a:ext cx="4206240" cy="365760"/>
          </a:xfrm>
          <a:prstGeom prst="rect">
            <a:avLst/>
          </a:prstGeom>
          <a:solidFill>
            <a:srgbClr val="F8F9FA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07822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position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218688" y="4078224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041648" y="4078224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47472" y="4462272"/>
            <a:ext cx="4206240" cy="365760"/>
          </a:xfrm>
          <a:prstGeom prst="rect">
            <a:avLst/>
          </a:prstGeom>
          <a:solidFill>
            <a:srgbClr val="FFFFFF"/>
          </a:solidFill>
          <a:ln w="3810">
            <a:solidFill>
              <a:srgbClr val="E9EC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(public)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18688" y="4462272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041648" y="4462272"/>
            <a:ext cx="512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✅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773168" y="2212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Functional Scenarios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73168" y="254203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+ role-based redirection (3 roles)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73168" y="288950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create + activation email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773168" y="32369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chart collapse/expand nodes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773168" y="35844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full approval cycle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73168" y="39319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advance full review cycle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73168" y="427939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job → visible on /careers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773168" y="462686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with CV → stored in database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040880" y="245973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CV screening score displayed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040880" y="280720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AI HR report successfully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040880" y="315468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branding config propagates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040880" y="35021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test runner: 8/8 PASS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040880" y="3849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</a:t>
            </a:r>
            <a:r>
              <a:rPr lang="en-US" sz="9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TypeScript: 0 compilation errors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18 / 23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What Was Delivered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987552"/>
            <a:ext cx="274320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Platform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 + Angular 17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+ 3-Level RBAC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+ Hibernate DDL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stateless API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27832" y="987552"/>
            <a:ext cx="27432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Modules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3756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functional HR modules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recruitment pipeline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org chart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3756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config system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987552"/>
            <a:ext cx="2743200" cy="2743200"/>
          </a:xfrm>
          <a:prstGeom prst="rect">
            <a:avLst/>
          </a:prstGeom>
          <a:solidFill>
            <a:srgbClr val="252545"/>
          </a:solidFill>
          <a:ln w="8890">
            <a:solidFill>
              <a:srgbClr val="3A3A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987552"/>
            <a:ext cx="274320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07899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Features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17920" y="1463040"/>
            <a:ext cx="2514600" cy="0"/>
          </a:xfrm>
          <a:prstGeom prst="line">
            <a:avLst/>
          </a:prstGeom>
          <a:noFill/>
          <a:ln w="6350">
            <a:solidFill>
              <a:srgbClr val="3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572768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HR report generation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2048256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CV screening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17920" y="2523744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score 0–100 badge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0" y="2999232"/>
            <a:ext cx="2514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05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metrics aggregation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7472" y="3858768"/>
            <a:ext cx="8449056" cy="804672"/>
          </a:xfrm>
          <a:prstGeom prst="rect">
            <a:avLst/>
          </a:prstGeom>
          <a:solidFill>
            <a:srgbClr val="252545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  ·  6-month internship  ·  ADP ES Tunisie  ·  April – September 2026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platform  ·  10+ modules  ·  AI integrated  ·  Deployed on GitHub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19 / 23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Perspectives &amp;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 for Nexus HCM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005840"/>
            <a:ext cx="2816352" cy="64008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87552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Module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payroll calculation based on attendance records, leave deductions, and configured salary parameters.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816352" cy="64008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01568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31920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401568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companion app for employee clock-in/out, leave requests, and push notifications on iOS/Android.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36208" y="100584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005840"/>
            <a:ext cx="2816352" cy="64008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45936" y="114300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45936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76288" y="117043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Analytics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345936" y="166420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Chart-based workforce dashboards (Chart.js/ECharts) with live KPIs, trend analysis, and exportable reports.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7472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" y="2926080"/>
            <a:ext cx="2816352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☁️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87552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+ deployment on AWS/Azure for production availability and horizontal scalability.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91840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91840" y="2926080"/>
            <a:ext cx="2816352" cy="64008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01568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3931920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Features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401568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churn prediction, skill gap analysis, automated performance coaching suggestions using ML models.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236208" y="2926080"/>
            <a:ext cx="28163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36208" y="2926080"/>
            <a:ext cx="2816352" cy="64008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45936" y="3063240"/>
            <a:ext cx="438912" cy="438912"/>
          </a:xfrm>
          <a:prstGeom prst="ellipse">
            <a:avLst/>
          </a:prstGeom>
          <a:solidFill>
            <a:srgbClr val="000000"/>
          </a:solidFill>
          <a:ln w="762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45936" y="3063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🔔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6876288" y="3090672"/>
            <a:ext cx="2057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345936" y="3584448"/>
            <a:ext cx="2596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in-app and email alerts for approvals, rejections, contract renewals, and HR broadcast messages.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20 / 23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walkthrough — localhost:4200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347472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Login Page — Role Redirection 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81728" y="100584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681728" y="180136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HR Admin Dashboard Overview 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347472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Org Chart — Collapse / Expand 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81728" y="3017520"/>
            <a:ext cx="4114800" cy="1920240"/>
          </a:xfrm>
          <a:prstGeom prst="rect">
            <a:avLst/>
          </a:prstGeom>
          <a:solidFill>
            <a:srgbClr val="F1F3F5"/>
          </a:solidFill>
          <a:ln w="12700">
            <a:solidFill>
              <a:srgbClr val="E9ECEF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681728" y="381304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Careers Page + AI Score Badge ]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7472" y="4919472"/>
            <a:ext cx="8449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running on port 8085  ·  Angular on port 4200  ·  MySQL via XAMPP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21 / 23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22960"/>
            <a:ext cx="9144000" cy="54864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91440"/>
            <a:ext cx="8503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 at a Glance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987552"/>
            <a:ext cx="2606040" cy="73152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Development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987552"/>
            <a:ext cx="2606040" cy="73152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338328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98755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987552"/>
            <a:ext cx="260604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15214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217920" y="201168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Modules Delivered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07792"/>
            <a:ext cx="2606040" cy="73152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Entities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38328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83280" y="2907792"/>
            <a:ext cx="2606040" cy="73152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338328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Endpoints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17920" y="2907792"/>
            <a:ext cx="260604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9ECEF"/>
            </a:solidFill>
            <a:prstDash val="solid"/>
          </a:ln>
          <a:effectLst>
            <a:outerShdw blurRad="1270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2907792"/>
            <a:ext cx="2606040" cy="73152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307238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6217920" y="3931920"/>
            <a:ext cx="2606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22 / 23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0"/>
            <a:ext cx="2011680" cy="5143500"/>
          </a:xfrm>
          <a:prstGeom prst="rect">
            <a:avLst/>
          </a:prstGeom>
          <a:solidFill>
            <a:srgbClr val="252545"/>
          </a:solidFill>
          <a:ln w="12700">
            <a:solidFill>
              <a:srgbClr val="25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54864" cy="5143500"/>
          </a:xfrm>
          <a:prstGeom prst="rect">
            <a:avLst/>
          </a:prstGeom>
          <a:solidFill>
            <a:srgbClr val="D0271D"/>
          </a:solidFill>
          <a:ln w="12700">
            <a:solidFill>
              <a:srgbClr val="D0271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457200" y="1993392"/>
            <a:ext cx="4114800" cy="0"/>
          </a:xfrm>
          <a:prstGeom prst="line">
            <a:avLst/>
          </a:prstGeom>
          <a:noFill/>
          <a:ln w="38100">
            <a:solidFill>
              <a:srgbClr val="D027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21408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GHARIANI Mohamed Amine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SAE  ·  ESPRIT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78608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78608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78608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ADP ES Tunisie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Fraj Sayed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0016" y="2788920"/>
            <a:ext cx="1993392" cy="1051560"/>
          </a:xfrm>
          <a:prstGeom prst="rect">
            <a:avLst/>
          </a:prstGeom>
          <a:solidFill>
            <a:srgbClr val="252545"/>
          </a:solidFill>
          <a:ln w="7620">
            <a:solidFill>
              <a:srgbClr val="3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83464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027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0016" y="312724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– September 2026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solidFill>
            <a:srgbClr val="24292F"/>
          </a:solidFill>
          <a:ln w="6350">
            <a:solidFill>
              <a:srgbClr val="3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 github.com/amine2zz/ADP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8463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5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HCM — Intelligent Human Capital Management System  ·  2025–2026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03920" y="486460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C757D"/>
                </a:solidFill>
              </a:rPr>
              <a:t>23 / 23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2150</Words>
  <Application>Microsoft Office PowerPoint</Application>
  <PresentationFormat>Affichage à l'écran (16:9)</PresentationFormat>
  <Paragraphs>504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 HCM v2 — Internship Defense</dc:title>
  <dc:subject>PptxGenJS Presentation</dc:subject>
  <dc:creator>GHARIANI Mohamed Amine</dc:creator>
  <cp:lastModifiedBy>Amine Ghariani</cp:lastModifiedBy>
  <cp:revision>2</cp:revision>
  <dcterms:created xsi:type="dcterms:W3CDTF">2026-06-07T16:07:13Z</dcterms:created>
  <dcterms:modified xsi:type="dcterms:W3CDTF">2026-06-24T10:02:00Z</dcterms:modified>
</cp:coreProperties>
</file>