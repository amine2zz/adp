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24.xml" ContentType="application/vnd.openxmlformats-officedocument.presentationml.slide+xml"/>
  <Override PartName="/ppt/slides/slide25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9" r:id="rId30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80" r:id="rId31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0"/>
            <a:ext cx="1371600" cy="5143500"/>
          </a:xfrm>
          <a:prstGeom prst="rect">
            <a:avLst/>
          </a:prstGeom>
          <a:solidFill>
            <a:srgbClr val="252545"/>
          </a:solidFill>
          <a:ln w="12700">
            <a:solidFill>
              <a:srgbClr val="2525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0"/>
            <a:ext cx="54864" cy="5143500"/>
          </a:xfrm>
          <a:prstGeom prst="rect">
            <a:avLst/>
          </a:prstGeom>
          <a:solidFill>
            <a:srgbClr val="D0271D"/>
          </a:solidFill>
          <a:ln w="12700">
            <a:solidFill>
              <a:srgbClr val="D0271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ESPRIT  —  Ecole Superieure Privee d'Ingenierie et de Technologies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365760" y="475488"/>
            <a:ext cx="7132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End-of-Studies Internship Report  ·  Academic Year 2025 – 2026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777240"/>
            <a:ext cx="7132320" cy="0"/>
          </a:xfrm>
          <a:prstGeom prst="line">
            <a:avLst/>
          </a:prstGeom>
          <a:noFill/>
          <a:ln w="7620">
            <a:solidFill>
              <a:srgbClr val="3A3A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05840"/>
            <a:ext cx="7132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 HCM</a:t>
            </a:r>
            <a:endParaRPr lang="en-US" sz="6000" dirty="0"/>
          </a:p>
        </p:txBody>
      </p:sp>
      <p:sp>
        <p:nvSpPr>
          <p:cNvPr id="8" name="Shape 6"/>
          <p:cNvSpPr/>
          <p:nvPr/>
        </p:nvSpPr>
        <p:spPr>
          <a:xfrm>
            <a:off x="365760" y="2212848"/>
            <a:ext cx="3657600" cy="0"/>
          </a:xfrm>
          <a:prstGeom prst="line">
            <a:avLst/>
          </a:prstGeom>
          <a:noFill/>
          <a:ln w="38100">
            <a:solidFill>
              <a:srgbClr val="D0271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2331720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Human Capital Management System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65760" y="278892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End-of-Studies Internship  ·  ADP ES Tunisie  ·  April – September 2026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3291840"/>
            <a:ext cx="7132320" cy="1481328"/>
          </a:xfrm>
          <a:prstGeom prst="rect">
            <a:avLst/>
          </a:prstGeom>
          <a:solidFill>
            <a:srgbClr val="252545"/>
          </a:solidFill>
          <a:ln w="7620">
            <a:solidFill>
              <a:srgbClr val="3A3A5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3291840"/>
            <a:ext cx="54864" cy="1481328"/>
          </a:xfrm>
          <a:prstGeom prst="rect">
            <a:avLst/>
          </a:prstGeom>
          <a:solidFill>
            <a:srgbClr val="D0271D"/>
          </a:solidFill>
          <a:ln w="12700">
            <a:solidFill>
              <a:srgbClr val="D0271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40156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Author: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578608" y="340156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GHARIANI Mohamed Amine  ·  SAE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48640" y="373075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Company: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578608" y="373075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ADP ES Tunisie  ·  Sana Business Center, Tunis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48640" y="405993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Supervisor: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578608" y="4059936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 Fraj Sayed  ·  sayed.ben.fraj@adp.com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48640" y="43891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Supervisor: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578608" y="43891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Amani Lamine  ·  ESPRIT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8503920" y="486460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C757D"/>
                </a:solidFill>
              </a:rPr>
              <a:t>1 / 25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D0271D"/>
          </a:solidFill>
          <a:ln w="12700">
            <a:solidFill>
              <a:srgbClr val="D0271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Outline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47472" y="1024128"/>
            <a:ext cx="420624" cy="420624"/>
          </a:xfrm>
          <a:prstGeom prst="ellipse">
            <a:avLst/>
          </a:prstGeom>
          <a:solidFill>
            <a:srgbClr val="D0271D"/>
          </a:solidFill>
          <a:ln w="12700">
            <a:solidFill>
              <a:srgbClr val="D0271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10241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59536" y="102412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Introduction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59536" y="126187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&amp; host organization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859536" y="1490472"/>
            <a:ext cx="3657600" cy="0"/>
          </a:xfrm>
          <a:prstGeom prst="line">
            <a:avLst/>
          </a:prstGeom>
          <a:noFill/>
          <a:ln w="5080">
            <a:solidFill>
              <a:srgbClr val="E9ECE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7472" y="1618488"/>
            <a:ext cx="420624" cy="420624"/>
          </a:xfrm>
          <a:prstGeom prst="ellipse">
            <a:avLst/>
          </a:prstGeom>
          <a:solidFill>
            <a:srgbClr val="D0271D"/>
          </a:solidFill>
          <a:ln w="12700">
            <a:solidFill>
              <a:srgbClr val="D0271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" y="16184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59536" y="161848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Context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59536" y="185623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HCM?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859536" y="2084832"/>
            <a:ext cx="3657600" cy="0"/>
          </a:xfrm>
          <a:prstGeom prst="line">
            <a:avLst/>
          </a:prstGeom>
          <a:noFill/>
          <a:ln w="5080">
            <a:solidFill>
              <a:srgbClr val="E9ECE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47472" y="2212848"/>
            <a:ext cx="420624" cy="420624"/>
          </a:xfrm>
          <a:prstGeom prst="ellipse">
            <a:avLst/>
          </a:prstGeom>
          <a:solidFill>
            <a:srgbClr val="D0271D"/>
          </a:solidFill>
          <a:ln w="12700">
            <a:solidFill>
              <a:srgbClr val="D0271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7472" y="22128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59536" y="221284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59536" y="245059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 points identified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859536" y="2679192"/>
            <a:ext cx="3657600" cy="0"/>
          </a:xfrm>
          <a:prstGeom prst="line">
            <a:avLst/>
          </a:prstGeom>
          <a:noFill/>
          <a:ln w="5080">
            <a:solidFill>
              <a:srgbClr val="E9ECE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47472" y="2807208"/>
            <a:ext cx="420624" cy="420624"/>
          </a:xfrm>
          <a:prstGeom prst="ellipse">
            <a:avLst/>
          </a:prstGeom>
          <a:solidFill>
            <a:srgbClr val="D0271D"/>
          </a:solidFill>
          <a:ln w="12700">
            <a:solidFill>
              <a:srgbClr val="D0271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" y="28072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59536" y="280720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Solutions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59536" y="304495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comparison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859536" y="3273552"/>
            <a:ext cx="3657600" cy="0"/>
          </a:xfrm>
          <a:prstGeom prst="line">
            <a:avLst/>
          </a:prstGeom>
          <a:noFill/>
          <a:ln w="5080">
            <a:solidFill>
              <a:srgbClr val="E9ECE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7472" y="3401568"/>
            <a:ext cx="420624" cy="420624"/>
          </a:xfrm>
          <a:prstGeom prst="ellipse">
            <a:avLst/>
          </a:prstGeom>
          <a:solidFill>
            <a:srgbClr val="D0271D"/>
          </a:solidFill>
          <a:ln w="12700">
            <a:solidFill>
              <a:srgbClr val="D0271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472" y="34015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59536" y="340156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59536" y="363931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 HCM overview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859536" y="3867912"/>
            <a:ext cx="3657600" cy="0"/>
          </a:xfrm>
          <a:prstGeom prst="line">
            <a:avLst/>
          </a:prstGeom>
          <a:noFill/>
          <a:ln w="5080">
            <a:solidFill>
              <a:srgbClr val="E9ECE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47472" y="3995928"/>
            <a:ext cx="420624" cy="420624"/>
          </a:xfrm>
          <a:prstGeom prst="ellipse">
            <a:avLst/>
          </a:prstGeom>
          <a:solidFill>
            <a:srgbClr val="D0271D"/>
          </a:solidFill>
          <a:ln w="12700">
            <a:solidFill>
              <a:srgbClr val="D0271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7472" y="39959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59536" y="399592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59536" y="423367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3-tier design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859536" y="4462272"/>
            <a:ext cx="3657600" cy="0"/>
          </a:xfrm>
          <a:prstGeom prst="line">
            <a:avLst/>
          </a:prstGeom>
          <a:noFill/>
          <a:ln w="5080">
            <a:solidFill>
              <a:srgbClr val="E9ECE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47472" y="4590288"/>
            <a:ext cx="420624" cy="420624"/>
          </a:xfrm>
          <a:prstGeom prst="ellipse">
            <a:avLst/>
          </a:prstGeom>
          <a:solidFill>
            <a:srgbClr val="D0271D"/>
          </a:solidFill>
          <a:ln w="12700">
            <a:solidFill>
              <a:srgbClr val="D0271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47472" y="45902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859536" y="459028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Integration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859536" y="482803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HR Engine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773168" y="1024128"/>
            <a:ext cx="420624" cy="420624"/>
          </a:xfrm>
          <a:prstGeom prst="ellipse">
            <a:avLst/>
          </a:prstGeom>
          <a:solidFill>
            <a:srgbClr val="D0271D"/>
          </a:solidFill>
          <a:ln w="12700">
            <a:solidFill>
              <a:srgbClr val="D0271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73168" y="10241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285232" y="102412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285232" y="126187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 Scrum &amp; sprints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5285232" y="1490472"/>
            <a:ext cx="3657600" cy="0"/>
          </a:xfrm>
          <a:prstGeom prst="line">
            <a:avLst/>
          </a:prstGeom>
          <a:noFill/>
          <a:ln w="5080">
            <a:solidFill>
              <a:srgbClr val="E9ECE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773168" y="1618488"/>
            <a:ext cx="420624" cy="420624"/>
          </a:xfrm>
          <a:prstGeom prst="ellipse">
            <a:avLst/>
          </a:prstGeom>
          <a:solidFill>
            <a:srgbClr val="D0271D"/>
          </a:solidFill>
          <a:ln w="12700">
            <a:solidFill>
              <a:srgbClr val="D0271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773168" y="16184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5285232" y="161848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5285232" y="185623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showcase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5285232" y="2084832"/>
            <a:ext cx="3657600" cy="0"/>
          </a:xfrm>
          <a:prstGeom prst="line">
            <a:avLst/>
          </a:prstGeom>
          <a:noFill/>
          <a:ln w="5080">
            <a:solidFill>
              <a:srgbClr val="E9ECE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773168" y="2212848"/>
            <a:ext cx="420624" cy="420624"/>
          </a:xfrm>
          <a:prstGeom prst="ellipse">
            <a:avLst/>
          </a:prstGeom>
          <a:solidFill>
            <a:srgbClr val="D0271D"/>
          </a:solidFill>
          <a:ln w="12700">
            <a:solidFill>
              <a:srgbClr val="D0271D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773168" y="22128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5285232" y="221284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5285232" y="245059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&amp; RBAC design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5285232" y="2679192"/>
            <a:ext cx="3657600" cy="0"/>
          </a:xfrm>
          <a:prstGeom prst="line">
            <a:avLst/>
          </a:prstGeom>
          <a:noFill/>
          <a:ln w="5080">
            <a:solidFill>
              <a:srgbClr val="E9ECEF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773168" y="2807208"/>
            <a:ext cx="420624" cy="420624"/>
          </a:xfrm>
          <a:prstGeom prst="ellipse">
            <a:avLst/>
          </a:prstGeom>
          <a:solidFill>
            <a:srgbClr val="D0271D"/>
          </a:solidFill>
          <a:ln w="12700">
            <a:solidFill>
              <a:srgbClr val="D0271D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773168" y="28072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5285232" y="280720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5285232" y="304495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model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5285232" y="3273552"/>
            <a:ext cx="3657600" cy="0"/>
          </a:xfrm>
          <a:prstGeom prst="line">
            <a:avLst/>
          </a:prstGeom>
          <a:noFill/>
          <a:ln w="5080">
            <a:solidFill>
              <a:srgbClr val="E9ECEF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773168" y="3401568"/>
            <a:ext cx="420624" cy="420624"/>
          </a:xfrm>
          <a:prstGeom prst="ellipse">
            <a:avLst/>
          </a:prstGeom>
          <a:solidFill>
            <a:srgbClr val="D0271D"/>
          </a:solidFill>
          <a:ln w="12700">
            <a:solidFill>
              <a:srgbClr val="D0271D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773168" y="34015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5285232" y="340156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200" dirty="0"/>
          </a:p>
        </p:txBody>
      </p:sp>
      <p:sp>
        <p:nvSpPr>
          <p:cNvPr id="62" name="Text 60"/>
          <p:cNvSpPr/>
          <p:nvPr/>
        </p:nvSpPr>
        <p:spPr>
          <a:xfrm>
            <a:off x="5285232" y="363931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results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5285232" y="3867912"/>
            <a:ext cx="3657600" cy="0"/>
          </a:xfrm>
          <a:prstGeom prst="line">
            <a:avLst/>
          </a:prstGeom>
          <a:noFill/>
          <a:ln w="5080">
            <a:solidFill>
              <a:srgbClr val="E9ECEF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4773168" y="3995928"/>
            <a:ext cx="420624" cy="420624"/>
          </a:xfrm>
          <a:prstGeom prst="ellipse">
            <a:avLst/>
          </a:prstGeom>
          <a:solidFill>
            <a:srgbClr val="D0271D"/>
          </a:solidFill>
          <a:ln w="12700">
            <a:solidFill>
              <a:srgbClr val="D0271D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773168" y="39959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200" dirty="0"/>
          </a:p>
        </p:txBody>
      </p:sp>
      <p:sp>
        <p:nvSpPr>
          <p:cNvPr id="66" name="Text 64"/>
          <p:cNvSpPr/>
          <p:nvPr/>
        </p:nvSpPr>
        <p:spPr>
          <a:xfrm>
            <a:off x="5285232" y="399592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67" name="Text 65"/>
          <p:cNvSpPr/>
          <p:nvPr/>
        </p:nvSpPr>
        <p:spPr>
          <a:xfrm>
            <a:off x="5285232" y="423367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Achievements &amp; next steps</a:t>
            </a:r>
            <a:endParaRPr lang="en-US" sz="950" dirty="0"/>
          </a:p>
        </p:txBody>
      </p:sp>
      <p:sp>
        <p:nvSpPr>
          <p:cNvPr id="68" name="Text 66"/>
          <p:cNvSpPr/>
          <p:nvPr/>
        </p:nvSpPr>
        <p:spPr>
          <a:xfrm>
            <a:off x="8503920" y="486460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C757D"/>
                </a:solidFill>
              </a:rPr>
              <a:t>2 / 25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D0271D"/>
          </a:solidFill>
          <a:ln w="12700">
            <a:solidFill>
              <a:srgbClr val="D0271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Company — ADP ES Tunisie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47472" y="960120"/>
            <a:ext cx="4754880" cy="1280160"/>
          </a:xfrm>
          <a:prstGeom prst="roundRect">
            <a:avLst>
              <a:gd name="adj" fmla="val 5714"/>
            </a:avLst>
          </a:prstGeom>
          <a:solidFill>
            <a:srgbClr val="F8F9FA"/>
          </a:solidFill>
          <a:ln w="9525">
            <a:solidFill>
              <a:srgbClr val="E9ECE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47472" y="96012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 ADP Logo  ]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47472" y="2359152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ADP — Automatic Data Processing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47472" y="2706624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027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1M+ </a:t>
            </a:r>
            <a:pPr indent="0" marL="0">
              <a:buNone/>
            </a:pPr>
            <a:r>
              <a:rPr lang="en-US" sz="10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clients  ·  </a:t>
            </a:r>
            <a:pPr indent="0" marL="0">
              <a:buNone/>
            </a:pPr>
            <a:r>
              <a:rPr lang="en-US" sz="1050" b="1" dirty="0">
                <a:solidFill>
                  <a:srgbClr val="D027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140+ </a:t>
            </a:r>
            <a:pPr indent="0" marL="0">
              <a:buNone/>
            </a:pPr>
            <a:r>
              <a:rPr lang="en-US" sz="10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countries  ·  Founded </a:t>
            </a:r>
            <a:pPr indent="0" marL="0">
              <a:buNone/>
            </a:pPr>
            <a:r>
              <a:rPr lang="en-US" sz="1050" b="1" dirty="0">
                <a:solidFill>
                  <a:srgbClr val="D027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1949</a:t>
            </a:r>
            <a:pPr indent="0" marL="0">
              <a:buNone/>
            </a:pPr>
            <a:r>
              <a:rPr lang="en-US" sz="10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Roseland, NJ, USA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47472" y="3035808"/>
            <a:ext cx="4754880" cy="0"/>
          </a:xfrm>
          <a:prstGeom prst="line">
            <a:avLst/>
          </a:prstGeom>
          <a:noFill/>
          <a:ln w="8890">
            <a:solidFill>
              <a:srgbClr val="E9ECE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" y="3127248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ADP ES Tunisie — Sana Business Center, Boulevard de l'Environnement, Tunis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47472" y="3419856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&amp; Engineering Center for the MENA region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Contributes to the development of global HR software platforms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321808" y="960120"/>
            <a:ext cx="3474720" cy="2944368"/>
          </a:xfrm>
          <a:prstGeom prst="roundRect">
            <a:avLst>
              <a:gd name="adj" fmla="val 3106"/>
            </a:avLst>
          </a:prstGeom>
          <a:solidFill>
            <a:srgbClr val="F8F9FA"/>
          </a:solidFill>
          <a:ln w="9525">
            <a:solidFill>
              <a:srgbClr val="E9ECE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321808" y="960120"/>
            <a:ext cx="3474720" cy="4572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321808" y="960120"/>
            <a:ext cx="3474720" cy="54864"/>
          </a:xfrm>
          <a:prstGeom prst="rect">
            <a:avLst/>
          </a:prstGeom>
          <a:solidFill>
            <a:srgbClr val="D0271D"/>
          </a:solidFill>
          <a:ln w="12700">
            <a:solidFill>
              <a:srgbClr val="D0271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21808" y="1024128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Details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321808" y="1481328"/>
            <a:ext cx="347472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E9EC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40680" y="15361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839712" y="15361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/ HR Solutions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321808" y="1883664"/>
            <a:ext cx="3474720" cy="384048"/>
          </a:xfrm>
          <a:prstGeom prst="rect">
            <a:avLst/>
          </a:prstGeom>
          <a:solidFill>
            <a:srgbClr val="F0F2F4"/>
          </a:solidFill>
          <a:ln w="3810">
            <a:solidFill>
              <a:srgbClr val="E9ECE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40680" y="19385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839712" y="1938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Platform Development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321808" y="2286000"/>
            <a:ext cx="347472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E9ECE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40680" y="23408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839712" y="23408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Tunis, Tunisia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321808" y="2688336"/>
            <a:ext cx="3474720" cy="384048"/>
          </a:xfrm>
          <a:prstGeom prst="rect">
            <a:avLst/>
          </a:prstGeom>
          <a:solidFill>
            <a:srgbClr val="F0F2F4"/>
          </a:solidFill>
          <a:ln w="3810">
            <a:solidFill>
              <a:srgbClr val="E9ECE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40680" y="27432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839712" y="27432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ADP.es@adp.com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321808" y="3090672"/>
            <a:ext cx="347472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E9ECE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40680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839712" y="314553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+216 71 110 606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321808" y="3493008"/>
            <a:ext cx="3474720" cy="384048"/>
          </a:xfrm>
          <a:prstGeom prst="rect">
            <a:avLst/>
          </a:prstGeom>
          <a:solidFill>
            <a:srgbClr val="F0F2F4"/>
          </a:solidFill>
          <a:ln w="3810">
            <a:solidFill>
              <a:srgbClr val="E9ECE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40680" y="354787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839712" y="35478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 Fraj Sayed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8503920" y="486460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C757D"/>
                </a:solidFill>
              </a:rPr>
              <a:t>3 / 25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D0271D"/>
          </a:solidFill>
          <a:ln w="12700">
            <a:solidFill>
              <a:srgbClr val="D0271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Human Capital Management?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8412480" cy="1143000"/>
          </a:xfrm>
          <a:prstGeom prst="rect">
            <a:avLst/>
          </a:prstGeom>
          <a:solidFill>
            <a:srgbClr val="252545"/>
          </a:solidFill>
          <a:ln w="10160">
            <a:solidFill>
              <a:srgbClr val="3A3A5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960120"/>
            <a:ext cx="73152" cy="1143000"/>
          </a:xfrm>
          <a:prstGeom prst="rect">
            <a:avLst/>
          </a:prstGeom>
          <a:solidFill>
            <a:srgbClr val="D0271D"/>
          </a:solidFill>
          <a:ln w="12700">
            <a:solidFill>
              <a:srgbClr val="D0271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005840"/>
            <a:ext cx="8046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"Human Capital Management (HCM) is a set of practices and tools that organizations use to recruit, develop, manage, and retain employees — transforming the workforce from a cost center into a strategic competitive advantage."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47472" y="2331720"/>
            <a:ext cx="2743200" cy="2514600"/>
          </a:xfrm>
          <a:prstGeom prst="rect">
            <a:avLst/>
          </a:prstGeom>
          <a:solidFill>
            <a:srgbClr val="252545"/>
          </a:solidFill>
          <a:ln w="10160">
            <a:solidFill>
              <a:srgbClr val="3A3A5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7472" y="2331720"/>
            <a:ext cx="2743200" cy="73152"/>
          </a:xfrm>
          <a:prstGeom prst="rect">
            <a:avLst/>
          </a:prstGeom>
          <a:solidFill>
            <a:srgbClr val="D0271D"/>
          </a:solidFill>
          <a:ln w="12700">
            <a:solidFill>
              <a:srgbClr val="D0271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" y="2487168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👥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347472" y="318211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21792" y="3566160"/>
            <a:ext cx="2194560" cy="0"/>
          </a:xfrm>
          <a:prstGeom prst="line">
            <a:avLst/>
          </a:prstGeom>
          <a:noFill/>
          <a:ln w="6350">
            <a:solidFill>
              <a:srgbClr val="3A3A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" y="3639312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Employees, their skills, career paths, experience and potential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27832" y="2331720"/>
            <a:ext cx="2743200" cy="2514600"/>
          </a:xfrm>
          <a:prstGeom prst="rect">
            <a:avLst/>
          </a:prstGeom>
          <a:solidFill>
            <a:srgbClr val="252545"/>
          </a:solidFill>
          <a:ln w="10160">
            <a:solidFill>
              <a:srgbClr val="3A3A5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27832" y="2331720"/>
            <a:ext cx="2743200" cy="73152"/>
          </a:xfrm>
          <a:prstGeom prst="rect">
            <a:avLst/>
          </a:prstGeom>
          <a:solidFill>
            <a:srgbClr val="D0271D"/>
          </a:solidFill>
          <a:ln w="12700">
            <a:solidFill>
              <a:srgbClr val="D0271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27832" y="2487168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⚙️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3227832" y="318211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502152" y="3566160"/>
            <a:ext cx="2194560" cy="0"/>
          </a:xfrm>
          <a:prstGeom prst="line">
            <a:avLst/>
          </a:prstGeom>
          <a:noFill/>
          <a:ln w="6350">
            <a:solidFill>
              <a:srgbClr val="3A3A5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27832" y="3639312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Onboarding, leave, attendance, payroll, performance cycles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108192" y="2331720"/>
            <a:ext cx="2743200" cy="2514600"/>
          </a:xfrm>
          <a:prstGeom prst="rect">
            <a:avLst/>
          </a:prstGeom>
          <a:solidFill>
            <a:srgbClr val="252545"/>
          </a:solidFill>
          <a:ln w="10160">
            <a:solidFill>
              <a:srgbClr val="3A3A5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08192" y="2331720"/>
            <a:ext cx="2743200" cy="73152"/>
          </a:xfrm>
          <a:prstGeom prst="rect">
            <a:avLst/>
          </a:prstGeom>
          <a:solidFill>
            <a:srgbClr val="D0271D"/>
          </a:solidFill>
          <a:ln w="12700">
            <a:solidFill>
              <a:srgbClr val="D0271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08192" y="2487168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📊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6108192" y="318211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Insights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382512" y="3566160"/>
            <a:ext cx="2194560" cy="0"/>
          </a:xfrm>
          <a:prstGeom prst="line">
            <a:avLst/>
          </a:prstGeom>
          <a:noFill/>
          <a:ln w="6350">
            <a:solidFill>
              <a:srgbClr val="3A3A5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08192" y="3639312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analytics to drive strategic HR decisions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286000" y="4828032"/>
            <a:ext cx="4572000" cy="237744"/>
          </a:xfrm>
          <a:prstGeom prst="rect">
            <a:avLst/>
          </a:prstGeom>
          <a:solidFill>
            <a:srgbClr val="D0271D"/>
          </a:solidFill>
          <a:ln w="12700">
            <a:solidFill>
              <a:srgbClr val="D0271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286000" y="482803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 HCM covers the complete HCM lifecycle in one unified platform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8503920" y="486460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C757D"/>
                </a:solidFill>
              </a:rPr>
              <a:t>4 / 25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D0271D"/>
          </a:solidFill>
          <a:ln w="12700">
            <a:solidFill>
              <a:srgbClr val="D0271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960120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state of HR management in many enterprises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47472" y="914400"/>
            <a:ext cx="8449056" cy="621792"/>
          </a:xfrm>
          <a:prstGeom prst="rect">
            <a:avLst/>
          </a:prstGeom>
          <a:solidFill>
            <a:srgbClr val="F8D7DA"/>
          </a:solidFill>
          <a:ln w="12700">
            <a:solidFill>
              <a:srgbClr val="F5C2C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7472" y="914400"/>
            <a:ext cx="73152" cy="621792"/>
          </a:xfrm>
          <a:prstGeom prst="rect">
            <a:avLst/>
          </a:prstGeom>
          <a:solidFill>
            <a:srgbClr val="D0271D"/>
          </a:solidFill>
          <a:ln w="12700">
            <a:solidFill>
              <a:srgbClr val="D0271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960120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"Managing HR in large enterprises is still manual, fragmented, and inefficient — leading to wasted time, data inconsistencies, and poor employee experience."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47472" y="1719072"/>
            <a:ext cx="2724912" cy="1353312"/>
          </a:xfrm>
          <a:prstGeom prst="rect">
            <a:avLst/>
          </a:prstGeom>
          <a:solidFill>
            <a:srgbClr val="FFFFFF"/>
          </a:solidFill>
          <a:ln w="9525">
            <a:solidFill>
              <a:srgbClr val="E9ECE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7472" y="1719072"/>
            <a:ext cx="2724912" cy="64008"/>
          </a:xfrm>
          <a:prstGeom prst="rect">
            <a:avLst/>
          </a:prstGeom>
          <a:solidFill>
            <a:srgbClr val="D0271D"/>
          </a:solidFill>
          <a:ln w="12700">
            <a:solidFill>
              <a:srgbClr val="D0271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🗂️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941832" y="18288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Centralized Database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38912" y="2221992"/>
            <a:ext cx="2514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data lives in spreadsheets and email threads, leading to duplication and inconsistency across teams.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182112" y="1719072"/>
            <a:ext cx="2724912" cy="1353312"/>
          </a:xfrm>
          <a:prstGeom prst="rect">
            <a:avLst/>
          </a:prstGeom>
          <a:solidFill>
            <a:srgbClr val="FFFFFF"/>
          </a:solidFill>
          <a:ln w="9525">
            <a:solidFill>
              <a:srgbClr val="E9ECE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182112" y="1719072"/>
            <a:ext cx="2724912" cy="64008"/>
          </a:xfrm>
          <a:prstGeom prst="rect">
            <a:avLst/>
          </a:prstGeom>
          <a:solidFill>
            <a:srgbClr val="FD7E14"/>
          </a:solidFill>
          <a:ln w="12700">
            <a:solidFill>
              <a:srgbClr val="FD7E1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73552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✉️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3776472" y="18288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Leave Approval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273552" y="2221992"/>
            <a:ext cx="2514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 sent by email with no workflow, no tracking, and slow response times from managers.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016752" y="1719072"/>
            <a:ext cx="2724912" cy="1353312"/>
          </a:xfrm>
          <a:prstGeom prst="rect">
            <a:avLst/>
          </a:prstGeom>
          <a:solidFill>
            <a:srgbClr val="FFFFFF"/>
          </a:solidFill>
          <a:ln w="9525">
            <a:solidFill>
              <a:srgbClr val="E9ECE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16752" y="1719072"/>
            <a:ext cx="2724912" cy="64008"/>
          </a:xfrm>
          <a:prstGeom prst="rect">
            <a:avLst/>
          </a:prstGeom>
          <a:solidFill>
            <a:srgbClr val="6F42C1"/>
          </a:solidFill>
          <a:ln w="12700">
            <a:solidFill>
              <a:srgbClr val="6F42C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08192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📋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611112" y="18288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Attendance Sheets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108192" y="2221992"/>
            <a:ext cx="2514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real-time visibility on who is present, absent, or working overtime. Impossible to audit.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47472" y="3182112"/>
            <a:ext cx="2724912" cy="1353312"/>
          </a:xfrm>
          <a:prstGeom prst="rect">
            <a:avLst/>
          </a:prstGeom>
          <a:solidFill>
            <a:srgbClr val="FFFFFF"/>
          </a:solidFill>
          <a:ln w="9525">
            <a:solidFill>
              <a:srgbClr val="E9ECE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47472" y="3182112"/>
            <a:ext cx="2724912" cy="64008"/>
          </a:xfrm>
          <a:prstGeom prst="rect">
            <a:avLst/>
          </a:prstGeom>
          <a:solidFill>
            <a:srgbClr val="D0271D"/>
          </a:solidFill>
          <a:ln w="12700">
            <a:solidFill>
              <a:srgbClr val="D0271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8912" y="3291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🔓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941832" y="32918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Access Control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38912" y="3685032"/>
            <a:ext cx="2514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payroll and performance data is accessible to anyone with a shared folder link.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182112" y="3182112"/>
            <a:ext cx="2724912" cy="1353312"/>
          </a:xfrm>
          <a:prstGeom prst="rect">
            <a:avLst/>
          </a:prstGeom>
          <a:solidFill>
            <a:srgbClr val="FFFFFF"/>
          </a:solidFill>
          <a:ln w="9525">
            <a:solidFill>
              <a:srgbClr val="E9ECE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182112" y="3182112"/>
            <a:ext cx="2724912" cy="64008"/>
          </a:xfrm>
          <a:prstGeom prst="rect">
            <a:avLst/>
          </a:prstGeom>
          <a:solidFill>
            <a:srgbClr val="FD7E14"/>
          </a:solidFill>
          <a:ln w="12700">
            <a:solidFill>
              <a:srgbClr val="FD7E1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73552" y="3291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🚪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3776472" y="32918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Employee Onboarding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3273552" y="3685032"/>
            <a:ext cx="2514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hires receive credentials through insecure channels, with no automated account provisioning.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016752" y="3182112"/>
            <a:ext cx="2724912" cy="1353312"/>
          </a:xfrm>
          <a:prstGeom prst="rect">
            <a:avLst/>
          </a:prstGeom>
          <a:solidFill>
            <a:srgbClr val="FFFFFF"/>
          </a:solidFill>
          <a:ln w="9525">
            <a:solidFill>
              <a:srgbClr val="E9ECE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016752" y="3182112"/>
            <a:ext cx="2724912" cy="64008"/>
          </a:xfrm>
          <a:prstGeom prst="rect">
            <a:avLst/>
          </a:prstGeom>
          <a:solidFill>
            <a:srgbClr val="6F42C1"/>
          </a:solidFill>
          <a:ln w="12700">
            <a:solidFill>
              <a:srgbClr val="6F42C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108192" y="3291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🔍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6611112" y="32918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Audit Trail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6108192" y="3685032"/>
            <a:ext cx="2514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log of who did what. Zero accountability or compliance traceability for HR decisions.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8503920" y="486460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C757D"/>
                </a:solidFill>
              </a:rPr>
              <a:t>5 / 25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D0271D"/>
          </a:solidFill>
          <a:ln w="12700">
            <a:solidFill>
              <a:srgbClr val="D0271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of Existing Solutions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960120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analysis of current HR management approaches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47472" y="960120"/>
            <a:ext cx="2468880" cy="438912"/>
          </a:xfrm>
          <a:prstGeom prst="rect">
            <a:avLst/>
          </a:prstGeom>
          <a:solidFill>
            <a:srgbClr val="1A1A2E"/>
          </a:solidFill>
          <a:ln w="5080">
            <a:solidFill>
              <a:srgbClr val="E9EC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02336" y="960120"/>
            <a:ext cx="23591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834640" y="960120"/>
            <a:ext cx="1463040" cy="438912"/>
          </a:xfrm>
          <a:prstGeom prst="rect">
            <a:avLst/>
          </a:prstGeom>
          <a:solidFill>
            <a:srgbClr val="343A40"/>
          </a:solidFill>
          <a:ln w="5080">
            <a:solidFill>
              <a:srgbClr val="E9EC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89504" y="960120"/>
            <a:ext cx="13533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Spreadsheets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315968" y="960120"/>
            <a:ext cx="1508760" cy="438912"/>
          </a:xfrm>
          <a:prstGeom prst="rect">
            <a:avLst/>
          </a:prstGeom>
          <a:solidFill>
            <a:srgbClr val="343A40"/>
          </a:solidFill>
          <a:ln w="5080">
            <a:solidFill>
              <a:srgbClr val="E9EC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70832" y="960120"/>
            <a:ext cx="13990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Standalone Tools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833872" y="960120"/>
            <a:ext cx="1691640" cy="438912"/>
          </a:xfrm>
          <a:prstGeom prst="rect">
            <a:avLst/>
          </a:prstGeom>
          <a:solidFill>
            <a:srgbClr val="343A40"/>
          </a:solidFill>
          <a:ln w="5080">
            <a:solidFill>
              <a:srgbClr val="E9EC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888736" y="960120"/>
            <a:ext cx="1581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Suites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7543800" y="960120"/>
            <a:ext cx="1554480" cy="438912"/>
          </a:xfrm>
          <a:prstGeom prst="rect">
            <a:avLst/>
          </a:prstGeom>
          <a:solidFill>
            <a:srgbClr val="D0271D"/>
          </a:solidFill>
          <a:ln w="5080">
            <a:solidFill>
              <a:srgbClr val="E9ECE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598664" y="960120"/>
            <a:ext cx="14447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 HCM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47472" y="1435608"/>
            <a:ext cx="2468880" cy="438912"/>
          </a:xfrm>
          <a:prstGeom prst="rect">
            <a:avLst/>
          </a:prstGeom>
          <a:solidFill>
            <a:srgbClr val="F8F9FA"/>
          </a:solidFill>
          <a:ln w="5080">
            <a:solidFill>
              <a:srgbClr val="E9EC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02336" y="1435608"/>
            <a:ext cx="23591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Data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834640" y="1435608"/>
            <a:ext cx="1463040" cy="438912"/>
          </a:xfrm>
          <a:prstGeom prst="rect">
            <a:avLst/>
          </a:prstGeom>
          <a:solidFill>
            <a:srgbClr val="F8D7DA"/>
          </a:solidFill>
          <a:ln w="5080">
            <a:solidFill>
              <a:srgbClr val="E9ECE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889504" y="1435608"/>
            <a:ext cx="13533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None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315968" y="1435608"/>
            <a:ext cx="1508760" cy="438912"/>
          </a:xfrm>
          <a:prstGeom prst="rect">
            <a:avLst/>
          </a:prstGeom>
          <a:solidFill>
            <a:srgbClr val="FFF3CD"/>
          </a:solidFill>
          <a:ln w="5080">
            <a:solidFill>
              <a:srgbClr val="E9ECE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70832" y="1435608"/>
            <a:ext cx="13990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Partial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833872" y="1435608"/>
            <a:ext cx="1691640" cy="438912"/>
          </a:xfrm>
          <a:prstGeom prst="rect">
            <a:avLst/>
          </a:prstGeom>
          <a:solidFill>
            <a:srgbClr val="D1E7DD"/>
          </a:solidFill>
          <a:ln w="5080">
            <a:solidFill>
              <a:srgbClr val="E9ECE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888736" y="1435608"/>
            <a:ext cx="1581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Yes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543800" y="1435608"/>
            <a:ext cx="1554480" cy="438912"/>
          </a:xfrm>
          <a:prstGeom prst="rect">
            <a:avLst/>
          </a:prstGeom>
          <a:solidFill>
            <a:srgbClr val="000000"/>
          </a:solidFill>
          <a:ln w="5080">
            <a:solidFill>
              <a:srgbClr val="E9ECE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598664" y="1435608"/>
            <a:ext cx="14447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Yes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47472" y="1911096"/>
            <a:ext cx="2468880" cy="438912"/>
          </a:xfrm>
          <a:prstGeom prst="rect">
            <a:avLst/>
          </a:prstGeom>
          <a:solidFill>
            <a:srgbClr val="F8F9FA"/>
          </a:solidFill>
          <a:ln w="5080">
            <a:solidFill>
              <a:srgbClr val="E9ECE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02336" y="1911096"/>
            <a:ext cx="23591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Workflow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834640" y="1911096"/>
            <a:ext cx="1463040" cy="438912"/>
          </a:xfrm>
          <a:prstGeom prst="rect">
            <a:avLst/>
          </a:prstGeom>
          <a:solidFill>
            <a:srgbClr val="F8D7DA"/>
          </a:solidFill>
          <a:ln w="5080">
            <a:solidFill>
              <a:srgbClr val="E9ECE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889504" y="1911096"/>
            <a:ext cx="13533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Email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315968" y="1911096"/>
            <a:ext cx="1508760" cy="438912"/>
          </a:xfrm>
          <a:prstGeom prst="rect">
            <a:avLst/>
          </a:prstGeom>
          <a:solidFill>
            <a:srgbClr val="FFF3CD"/>
          </a:solidFill>
          <a:ln w="5080">
            <a:solidFill>
              <a:srgbClr val="E9ECE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370832" y="1911096"/>
            <a:ext cx="13990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Basic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833872" y="1911096"/>
            <a:ext cx="1691640" cy="438912"/>
          </a:xfrm>
          <a:prstGeom prst="rect">
            <a:avLst/>
          </a:prstGeom>
          <a:solidFill>
            <a:srgbClr val="D1E7DD"/>
          </a:solidFill>
          <a:ln w="5080">
            <a:solidFill>
              <a:srgbClr val="E9ECE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888736" y="1911096"/>
            <a:ext cx="1581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Full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7543800" y="1911096"/>
            <a:ext cx="1554480" cy="438912"/>
          </a:xfrm>
          <a:prstGeom prst="rect">
            <a:avLst/>
          </a:prstGeom>
          <a:solidFill>
            <a:srgbClr val="000000"/>
          </a:solidFill>
          <a:ln w="5080">
            <a:solidFill>
              <a:srgbClr val="E9ECE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598664" y="1911096"/>
            <a:ext cx="14447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Full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47472" y="2386584"/>
            <a:ext cx="2468880" cy="438912"/>
          </a:xfrm>
          <a:prstGeom prst="rect">
            <a:avLst/>
          </a:prstGeom>
          <a:solidFill>
            <a:srgbClr val="F8F9FA"/>
          </a:solidFill>
          <a:ln w="5080">
            <a:solidFill>
              <a:srgbClr val="E9ECE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02336" y="2386584"/>
            <a:ext cx="23591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Tracking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2834640" y="2386584"/>
            <a:ext cx="1463040" cy="438912"/>
          </a:xfrm>
          <a:prstGeom prst="rect">
            <a:avLst/>
          </a:prstGeom>
          <a:solidFill>
            <a:srgbClr val="F8D7DA"/>
          </a:solidFill>
          <a:ln w="5080">
            <a:solidFill>
              <a:srgbClr val="E9ECE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889504" y="2386584"/>
            <a:ext cx="13533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Paper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315968" y="2386584"/>
            <a:ext cx="1508760" cy="438912"/>
          </a:xfrm>
          <a:prstGeom prst="rect">
            <a:avLst/>
          </a:prstGeom>
          <a:solidFill>
            <a:srgbClr val="FFF3CD"/>
          </a:solidFill>
          <a:ln w="5080">
            <a:solidFill>
              <a:srgbClr val="E9ECE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370832" y="2386584"/>
            <a:ext cx="13990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Limited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833872" y="2386584"/>
            <a:ext cx="1691640" cy="438912"/>
          </a:xfrm>
          <a:prstGeom prst="rect">
            <a:avLst/>
          </a:prstGeom>
          <a:solidFill>
            <a:srgbClr val="D1E7DD"/>
          </a:solidFill>
          <a:ln w="5080">
            <a:solidFill>
              <a:srgbClr val="E9ECE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888736" y="2386584"/>
            <a:ext cx="1581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Yes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7543800" y="2386584"/>
            <a:ext cx="1554480" cy="438912"/>
          </a:xfrm>
          <a:prstGeom prst="rect">
            <a:avLst/>
          </a:prstGeom>
          <a:solidFill>
            <a:srgbClr val="000000"/>
          </a:solidFill>
          <a:ln w="5080">
            <a:solidFill>
              <a:srgbClr val="E9ECE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598664" y="2386584"/>
            <a:ext cx="14447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Digital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47472" y="2862072"/>
            <a:ext cx="2468880" cy="438912"/>
          </a:xfrm>
          <a:prstGeom prst="rect">
            <a:avLst/>
          </a:prstGeom>
          <a:solidFill>
            <a:srgbClr val="F8F9FA"/>
          </a:solidFill>
          <a:ln w="5080">
            <a:solidFill>
              <a:srgbClr val="E9ECE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02336" y="2862072"/>
            <a:ext cx="23591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2834640" y="2862072"/>
            <a:ext cx="1463040" cy="438912"/>
          </a:xfrm>
          <a:prstGeom prst="rect">
            <a:avLst/>
          </a:prstGeom>
          <a:solidFill>
            <a:srgbClr val="F8D7DA"/>
          </a:solidFill>
          <a:ln w="5080">
            <a:solidFill>
              <a:srgbClr val="E9ECE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889504" y="2862072"/>
            <a:ext cx="13533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None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315968" y="2862072"/>
            <a:ext cx="1508760" cy="438912"/>
          </a:xfrm>
          <a:prstGeom prst="rect">
            <a:avLst/>
          </a:prstGeom>
          <a:solidFill>
            <a:srgbClr val="FFF3CD"/>
          </a:solidFill>
          <a:ln w="5080">
            <a:solidFill>
              <a:srgbClr val="E9ECE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370832" y="2862072"/>
            <a:ext cx="13990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Basic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5833872" y="2862072"/>
            <a:ext cx="1691640" cy="438912"/>
          </a:xfrm>
          <a:prstGeom prst="rect">
            <a:avLst/>
          </a:prstGeom>
          <a:solidFill>
            <a:srgbClr val="D1E7DD"/>
          </a:solidFill>
          <a:ln w="5080">
            <a:solidFill>
              <a:srgbClr val="E9ECE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888736" y="2862072"/>
            <a:ext cx="1581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Advanced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7543800" y="2862072"/>
            <a:ext cx="1554480" cy="438912"/>
          </a:xfrm>
          <a:prstGeom prst="rect">
            <a:avLst/>
          </a:prstGeom>
          <a:solidFill>
            <a:srgbClr val="000000"/>
          </a:solidFill>
          <a:ln w="5080">
            <a:solidFill>
              <a:srgbClr val="E9ECE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598664" y="2862072"/>
            <a:ext cx="14447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3-Level RBAC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347472" y="3337560"/>
            <a:ext cx="2468880" cy="438912"/>
          </a:xfrm>
          <a:prstGeom prst="rect">
            <a:avLst/>
          </a:prstGeom>
          <a:solidFill>
            <a:srgbClr val="F8F9FA"/>
          </a:solidFill>
          <a:ln w="5080">
            <a:solidFill>
              <a:srgbClr val="E9ECE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02336" y="3337560"/>
            <a:ext cx="23591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Auto.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2834640" y="3337560"/>
            <a:ext cx="1463040" cy="438912"/>
          </a:xfrm>
          <a:prstGeom prst="rect">
            <a:avLst/>
          </a:prstGeom>
          <a:solidFill>
            <a:srgbClr val="F8D7DA"/>
          </a:solidFill>
          <a:ln w="5080">
            <a:solidFill>
              <a:srgbClr val="E9ECEF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889504" y="3337560"/>
            <a:ext cx="13533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Manual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4315968" y="3337560"/>
            <a:ext cx="1508760" cy="438912"/>
          </a:xfrm>
          <a:prstGeom prst="rect">
            <a:avLst/>
          </a:prstGeom>
          <a:solidFill>
            <a:srgbClr val="FFF3CD"/>
          </a:solidFill>
          <a:ln w="5080">
            <a:solidFill>
              <a:srgbClr val="E9ECEF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370832" y="3337560"/>
            <a:ext cx="13990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Partial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5833872" y="3337560"/>
            <a:ext cx="1691640" cy="438912"/>
          </a:xfrm>
          <a:prstGeom prst="rect">
            <a:avLst/>
          </a:prstGeom>
          <a:solidFill>
            <a:srgbClr val="D1E7DD"/>
          </a:solidFill>
          <a:ln w="5080">
            <a:solidFill>
              <a:srgbClr val="E9ECEF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888736" y="3337560"/>
            <a:ext cx="1581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Yes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7543800" y="3337560"/>
            <a:ext cx="1554480" cy="438912"/>
          </a:xfrm>
          <a:prstGeom prst="rect">
            <a:avLst/>
          </a:prstGeom>
          <a:solidFill>
            <a:srgbClr val="000000"/>
          </a:solidFill>
          <a:ln w="5080">
            <a:solidFill>
              <a:srgbClr val="E9ECEF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598664" y="3337560"/>
            <a:ext cx="14447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Email Token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347472" y="3813048"/>
            <a:ext cx="2468880" cy="438912"/>
          </a:xfrm>
          <a:prstGeom prst="rect">
            <a:avLst/>
          </a:prstGeom>
          <a:solidFill>
            <a:srgbClr val="F8F9FA"/>
          </a:solidFill>
          <a:ln w="5080">
            <a:solidFill>
              <a:srgbClr val="E9ECEF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02336" y="3813048"/>
            <a:ext cx="23591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Reports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2834640" y="3813048"/>
            <a:ext cx="1463040" cy="438912"/>
          </a:xfrm>
          <a:prstGeom prst="rect">
            <a:avLst/>
          </a:prstGeom>
          <a:solidFill>
            <a:srgbClr val="F8D7DA"/>
          </a:solidFill>
          <a:ln w="5080">
            <a:solidFill>
              <a:srgbClr val="E9ECEF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889504" y="3813048"/>
            <a:ext cx="13533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None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4315968" y="3813048"/>
            <a:ext cx="1508760" cy="438912"/>
          </a:xfrm>
          <a:prstGeom prst="rect">
            <a:avLst/>
          </a:prstGeom>
          <a:solidFill>
            <a:srgbClr val="F8D7DA"/>
          </a:solidFill>
          <a:ln w="5080">
            <a:solidFill>
              <a:srgbClr val="E9ECEF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370832" y="3813048"/>
            <a:ext cx="13990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None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5833872" y="3813048"/>
            <a:ext cx="1691640" cy="438912"/>
          </a:xfrm>
          <a:prstGeom prst="rect">
            <a:avLst/>
          </a:prstGeom>
          <a:solidFill>
            <a:srgbClr val="FFF3CD"/>
          </a:solidFill>
          <a:ln w="5080">
            <a:solidFill>
              <a:srgbClr val="E9ECEF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5888736" y="3813048"/>
            <a:ext cx="1581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Add-on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7543800" y="3813048"/>
            <a:ext cx="1554480" cy="438912"/>
          </a:xfrm>
          <a:prstGeom prst="rect">
            <a:avLst/>
          </a:prstGeom>
          <a:solidFill>
            <a:srgbClr val="000000"/>
          </a:solidFill>
          <a:ln w="5080">
            <a:solidFill>
              <a:srgbClr val="E9ECEF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7598664" y="3813048"/>
            <a:ext cx="14447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Built-in GPT-4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347472" y="4288536"/>
            <a:ext cx="2468880" cy="438912"/>
          </a:xfrm>
          <a:prstGeom prst="rect">
            <a:avLst/>
          </a:prstGeom>
          <a:solidFill>
            <a:srgbClr val="F8F9FA"/>
          </a:solidFill>
          <a:ln w="5080">
            <a:solidFill>
              <a:srgbClr val="E9ECEF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402336" y="4288536"/>
            <a:ext cx="23591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Recruitment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2834640" y="4288536"/>
            <a:ext cx="1463040" cy="438912"/>
          </a:xfrm>
          <a:prstGeom prst="rect">
            <a:avLst/>
          </a:prstGeom>
          <a:solidFill>
            <a:srgbClr val="F8D7DA"/>
          </a:solidFill>
          <a:ln w="5080">
            <a:solidFill>
              <a:srgbClr val="E9ECEF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2889504" y="4288536"/>
            <a:ext cx="13533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None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4315968" y="4288536"/>
            <a:ext cx="1508760" cy="438912"/>
          </a:xfrm>
          <a:prstGeom prst="rect">
            <a:avLst/>
          </a:prstGeom>
          <a:solidFill>
            <a:srgbClr val="F8D7DA"/>
          </a:solidFill>
          <a:ln w="5080">
            <a:solidFill>
              <a:srgbClr val="E9ECEF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4370832" y="4288536"/>
            <a:ext cx="13990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None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5833872" y="4288536"/>
            <a:ext cx="1691640" cy="438912"/>
          </a:xfrm>
          <a:prstGeom prst="rect">
            <a:avLst/>
          </a:prstGeom>
          <a:solidFill>
            <a:srgbClr val="FFF3CD"/>
          </a:solidFill>
          <a:ln w="5080">
            <a:solidFill>
              <a:srgbClr val="E9ECEF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5888736" y="4288536"/>
            <a:ext cx="1581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Extra module</a:t>
            </a:r>
            <a:endParaRPr lang="en-US" sz="900" dirty="0"/>
          </a:p>
        </p:txBody>
      </p:sp>
      <p:sp>
        <p:nvSpPr>
          <p:cNvPr id="84" name="Shape 82"/>
          <p:cNvSpPr/>
          <p:nvPr/>
        </p:nvSpPr>
        <p:spPr>
          <a:xfrm>
            <a:off x="7543800" y="4288536"/>
            <a:ext cx="1554480" cy="438912"/>
          </a:xfrm>
          <a:prstGeom prst="rect">
            <a:avLst/>
          </a:prstGeom>
          <a:solidFill>
            <a:srgbClr val="000000"/>
          </a:solidFill>
          <a:ln w="5080">
            <a:solidFill>
              <a:srgbClr val="E9ECEF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7598664" y="4288536"/>
            <a:ext cx="14447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Full pipeline</a:t>
            </a:r>
            <a:endParaRPr lang="en-US" sz="900" dirty="0"/>
          </a:p>
        </p:txBody>
      </p:sp>
      <p:sp>
        <p:nvSpPr>
          <p:cNvPr id="86" name="Shape 84"/>
          <p:cNvSpPr/>
          <p:nvPr/>
        </p:nvSpPr>
        <p:spPr>
          <a:xfrm>
            <a:off x="347472" y="4764024"/>
            <a:ext cx="2468880" cy="438912"/>
          </a:xfrm>
          <a:prstGeom prst="rect">
            <a:avLst/>
          </a:prstGeom>
          <a:solidFill>
            <a:srgbClr val="F8F9FA"/>
          </a:solidFill>
          <a:ln w="5080">
            <a:solidFill>
              <a:srgbClr val="E9ECEF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402336" y="4764024"/>
            <a:ext cx="23591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900" dirty="0"/>
          </a:p>
        </p:txBody>
      </p:sp>
      <p:sp>
        <p:nvSpPr>
          <p:cNvPr id="88" name="Shape 86"/>
          <p:cNvSpPr/>
          <p:nvPr/>
        </p:nvSpPr>
        <p:spPr>
          <a:xfrm>
            <a:off x="2834640" y="4764024"/>
            <a:ext cx="1463040" cy="438912"/>
          </a:xfrm>
          <a:prstGeom prst="rect">
            <a:avLst/>
          </a:prstGeom>
          <a:solidFill>
            <a:srgbClr val="D1E7DD"/>
          </a:solidFill>
          <a:ln w="5080">
            <a:solidFill>
              <a:srgbClr val="E9ECEF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2889504" y="4764024"/>
            <a:ext cx="13533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Free</a:t>
            </a:r>
            <a:endParaRPr lang="en-US" sz="900" dirty="0"/>
          </a:p>
        </p:txBody>
      </p:sp>
      <p:sp>
        <p:nvSpPr>
          <p:cNvPr id="90" name="Shape 88"/>
          <p:cNvSpPr/>
          <p:nvPr/>
        </p:nvSpPr>
        <p:spPr>
          <a:xfrm>
            <a:off x="4315968" y="4764024"/>
            <a:ext cx="1508760" cy="438912"/>
          </a:xfrm>
          <a:prstGeom prst="rect">
            <a:avLst/>
          </a:prstGeom>
          <a:solidFill>
            <a:srgbClr val="FFF3CD"/>
          </a:solidFill>
          <a:ln w="5080">
            <a:solidFill>
              <a:srgbClr val="E9ECEF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4370832" y="4764024"/>
            <a:ext cx="13990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Moderate</a:t>
            </a:r>
            <a:endParaRPr lang="en-US" sz="900" dirty="0"/>
          </a:p>
        </p:txBody>
      </p:sp>
      <p:sp>
        <p:nvSpPr>
          <p:cNvPr id="92" name="Shape 90"/>
          <p:cNvSpPr/>
          <p:nvPr/>
        </p:nvSpPr>
        <p:spPr>
          <a:xfrm>
            <a:off x="5833872" y="4764024"/>
            <a:ext cx="1691640" cy="438912"/>
          </a:xfrm>
          <a:prstGeom prst="rect">
            <a:avLst/>
          </a:prstGeom>
          <a:solidFill>
            <a:srgbClr val="F8D7DA"/>
          </a:solidFill>
          <a:ln w="5080">
            <a:solidFill>
              <a:srgbClr val="E9ECEF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5888736" y="4764024"/>
            <a:ext cx="1581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Very High</a:t>
            </a:r>
            <a:endParaRPr lang="en-US" sz="900" dirty="0"/>
          </a:p>
        </p:txBody>
      </p:sp>
      <p:sp>
        <p:nvSpPr>
          <p:cNvPr id="94" name="Shape 92"/>
          <p:cNvSpPr/>
          <p:nvPr/>
        </p:nvSpPr>
        <p:spPr>
          <a:xfrm>
            <a:off x="7543800" y="4764024"/>
            <a:ext cx="1554480" cy="438912"/>
          </a:xfrm>
          <a:prstGeom prst="rect">
            <a:avLst/>
          </a:prstGeom>
          <a:solidFill>
            <a:srgbClr val="000000"/>
          </a:solidFill>
          <a:ln w="5080">
            <a:solidFill>
              <a:srgbClr val="E9ECEF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7598664" y="4764024"/>
            <a:ext cx="14447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Custom / Low</a:t>
            </a:r>
            <a:endParaRPr lang="en-US" sz="900" dirty="0"/>
          </a:p>
        </p:txBody>
      </p:sp>
      <p:sp>
        <p:nvSpPr>
          <p:cNvPr id="96" name="Text 94"/>
          <p:cNvSpPr/>
          <p:nvPr/>
        </p:nvSpPr>
        <p:spPr>
          <a:xfrm>
            <a:off x="8503920" y="486460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C757D"/>
                </a:solidFill>
              </a:rPr>
              <a:t>6 / 25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D0271D"/>
          </a:solidFill>
          <a:ln w="12700">
            <a:solidFill>
              <a:srgbClr val="D0271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 HCM — The Proposed Solution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47472" y="960120"/>
            <a:ext cx="84490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  ·  Three Roles  ·  All HR Operations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0" y="1417320"/>
            <a:ext cx="1828800" cy="868680"/>
          </a:xfrm>
          <a:prstGeom prst="ellipse">
            <a:avLst/>
          </a:prstGeom>
          <a:solidFill>
            <a:srgbClr val="D0271D"/>
          </a:solidFill>
          <a:ln w="12700">
            <a:solidFill>
              <a:srgbClr val="D0271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0" y="146304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 HCM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325880"/>
            <a:ext cx="2606040" cy="3474720"/>
          </a:xfrm>
          <a:prstGeom prst="rect">
            <a:avLst/>
          </a:prstGeom>
          <a:solidFill>
            <a:srgbClr val="252545"/>
          </a:solidFill>
          <a:ln w="8890">
            <a:solidFill>
              <a:srgbClr val="3A3A5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325880"/>
            <a:ext cx="2606040" cy="73152"/>
          </a:xfrm>
          <a:prstGeom prst="rect">
            <a:avLst/>
          </a:prstGeom>
          <a:solidFill>
            <a:srgbClr val="D0271D"/>
          </a:solidFill>
          <a:ln w="12700">
            <a:solidFill>
              <a:srgbClr val="D0271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453896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 HR Admin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783080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system access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65760" y="2039112"/>
            <a:ext cx="2423160" cy="0"/>
          </a:xfrm>
          <a:prstGeom prst="line">
            <a:avLst/>
          </a:prstGeom>
          <a:noFill/>
          <a:ln w="6350">
            <a:solidFill>
              <a:srgbClr val="3A3A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" y="21488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027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›  </a:t>
            </a:r>
            <a:pPr indent="0" marL="0">
              <a:buNone/>
            </a:pPr>
            <a:r>
              <a:rPr lang="en-US" sz="9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lifecycle &amp; onboarding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84048" y="2569464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027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›  </a:t>
            </a:r>
            <a:pPr indent="0" marL="0">
              <a:buNone/>
            </a:pPr>
            <a:r>
              <a:rPr lang="en-US" sz="9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&amp; org management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84048" y="299008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027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›  </a:t>
            </a:r>
            <a:pPr indent="0" marL="0">
              <a:buNone/>
            </a:pPr>
            <a:r>
              <a:rPr lang="en-US" sz="9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Leave, advance approvals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84048" y="341071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027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›  </a:t>
            </a:r>
            <a:pPr indent="0" marL="0">
              <a:buNone/>
            </a:pPr>
            <a:r>
              <a:rPr lang="en-US" sz="9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board &amp; recruitment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84048" y="383133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027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›  </a:t>
            </a:r>
            <a:pPr indent="0" marL="0">
              <a:buNone/>
            </a:pPr>
            <a:r>
              <a:rPr lang="en-US" sz="9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report generation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84048" y="42519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027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›  </a:t>
            </a:r>
            <a:pPr indent="0" marL="0">
              <a:buNone/>
            </a:pPr>
            <a:r>
              <a:rPr lang="en-US" sz="9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configuration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383280" y="2834640"/>
            <a:ext cx="2606040" cy="3474720"/>
          </a:xfrm>
          <a:prstGeom prst="rect">
            <a:avLst/>
          </a:prstGeom>
          <a:solidFill>
            <a:srgbClr val="252545"/>
          </a:solidFill>
          <a:ln w="8890">
            <a:solidFill>
              <a:srgbClr val="3A3A5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383280" y="2834640"/>
            <a:ext cx="2606040" cy="73152"/>
          </a:xfrm>
          <a:prstGeom prst="rect">
            <a:avLst/>
          </a:prstGeom>
          <a:solidFill>
            <a:srgbClr val="6F42C1"/>
          </a:solidFill>
          <a:ln w="12700">
            <a:solidFill>
              <a:srgbClr val="6F42C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0" y="2962656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🟣  Manager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474720" y="3291840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supervision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474720" y="3547872"/>
            <a:ext cx="2423160" cy="0"/>
          </a:xfrm>
          <a:prstGeom prst="line">
            <a:avLst/>
          </a:prstGeom>
          <a:noFill/>
          <a:ln w="6350">
            <a:solidFill>
              <a:srgbClr val="3A3A5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93008" y="36576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F42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›  </a:t>
            </a:r>
            <a:pPr indent="0" marL="0">
              <a:buNone/>
            </a:pPr>
            <a:r>
              <a:rPr lang="en-US" sz="9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performance dashboard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493008" y="4078224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F42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›  </a:t>
            </a:r>
            <a:pPr indent="0" marL="0">
              <a:buNone/>
            </a:pPr>
            <a:r>
              <a:rPr lang="en-US" sz="9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&amp; advance approvals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493008" y="449884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F42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›  </a:t>
            </a:r>
            <a:pPr indent="0" marL="0">
              <a:buNone/>
            </a:pPr>
            <a:r>
              <a:rPr lang="en-US" sz="9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attendance calendar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493008" y="491947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F42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›  </a:t>
            </a:r>
            <a:pPr indent="0" marL="0">
              <a:buNone/>
            </a:pPr>
            <a:r>
              <a:rPr lang="en-US" sz="9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evaluations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309360" y="1325880"/>
            <a:ext cx="2606040" cy="3474720"/>
          </a:xfrm>
          <a:prstGeom prst="rect">
            <a:avLst/>
          </a:prstGeom>
          <a:solidFill>
            <a:srgbClr val="252545"/>
          </a:solidFill>
          <a:ln w="8890">
            <a:solidFill>
              <a:srgbClr val="3A3A5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309360" y="1325880"/>
            <a:ext cx="2606040" cy="73152"/>
          </a:xfrm>
          <a:prstGeom prst="rect">
            <a:avLst/>
          </a:prstGeom>
          <a:solidFill>
            <a:srgbClr val="0D6EFD"/>
          </a:solidFill>
          <a:ln w="12700">
            <a:solidFill>
              <a:srgbClr val="0D6EF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0" y="1453896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🔵  Employee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400800" y="1783080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Self-service portal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400800" y="2039112"/>
            <a:ext cx="2423160" cy="0"/>
          </a:xfrm>
          <a:prstGeom prst="line">
            <a:avLst/>
          </a:prstGeom>
          <a:noFill/>
          <a:ln w="6350">
            <a:solidFill>
              <a:srgbClr val="3A3A5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19088" y="21488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6E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›  </a:t>
            </a:r>
            <a:pPr indent="0" marL="0">
              <a:buNone/>
            </a:pPr>
            <a:r>
              <a:rPr lang="en-US" sz="9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profile &amp; documents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419088" y="2569464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6E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›  </a:t>
            </a:r>
            <a:pPr indent="0" marL="0">
              <a:buNone/>
            </a:pPr>
            <a:r>
              <a:rPr lang="en-US" sz="9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request submission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419088" y="299008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6E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›  </a:t>
            </a:r>
            <a:pPr indent="0" marL="0">
              <a:buNone/>
            </a:pPr>
            <a:r>
              <a:rPr lang="en-US" sz="9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 advance requests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419088" y="341071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6E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›  </a:t>
            </a:r>
            <a:pPr indent="0" marL="0">
              <a:buNone/>
            </a:pPr>
            <a:r>
              <a:rPr lang="en-US" sz="9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clock-in / clock-out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8503920" y="486460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C757D"/>
                </a:solidFill>
              </a:rPr>
              <a:t>7 / 25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D0271D"/>
          </a:solidFill>
          <a:ln w="12700">
            <a:solidFill>
              <a:srgbClr val="D0271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960120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Decoupled three-tier architecture with external AI integration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47472" y="987552"/>
            <a:ext cx="7315200" cy="1170432"/>
          </a:xfrm>
          <a:prstGeom prst="rect">
            <a:avLst/>
          </a:prstGeom>
          <a:solidFill>
            <a:srgbClr val="FEE2E2"/>
          </a:solidFill>
          <a:ln w="15240">
            <a:solidFill>
              <a:srgbClr val="D0271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042416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Layer — Angular 17  (Port 4200)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02920" y="1408176"/>
            <a:ext cx="1609344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0271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408176"/>
            <a:ext cx="160934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Admin Dashboard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203704" y="1408176"/>
            <a:ext cx="1609344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0271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03704" y="1408176"/>
            <a:ext cx="160934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Dashboard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904488" y="1408176"/>
            <a:ext cx="1609344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0271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904488" y="1408176"/>
            <a:ext cx="160934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Portal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605272" y="1408176"/>
            <a:ext cx="1609344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0271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05272" y="1408176"/>
            <a:ext cx="160934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Careers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47472" y="2359152"/>
            <a:ext cx="7315200" cy="1170432"/>
          </a:xfrm>
          <a:prstGeom prst="rect">
            <a:avLst/>
          </a:prstGeom>
          <a:solidFill>
            <a:srgbClr val="EDE9FE"/>
          </a:solidFill>
          <a:ln w="15240">
            <a:solidFill>
              <a:srgbClr val="6F42C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2414016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 Layer — Spring Boot 3 / Java 21  (Port 8085)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02920" y="2779776"/>
            <a:ext cx="1609344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6F42C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2779776"/>
            <a:ext cx="160934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Controllers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203704" y="2779776"/>
            <a:ext cx="1609344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6F42C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03704" y="2779776"/>
            <a:ext cx="160934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Layer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904488" y="2779776"/>
            <a:ext cx="1609344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6F42C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904488" y="2779776"/>
            <a:ext cx="160934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JPA Repositories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605272" y="2779776"/>
            <a:ext cx="1609344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6F42C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05272" y="2779776"/>
            <a:ext cx="160934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Security/JWT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47472" y="3730752"/>
            <a:ext cx="7315200" cy="1170432"/>
          </a:xfrm>
          <a:prstGeom prst="rect">
            <a:avLst/>
          </a:prstGeom>
          <a:solidFill>
            <a:srgbClr val="F8F9FA"/>
          </a:solidFill>
          <a:ln w="15240">
            <a:solidFill>
              <a:srgbClr val="6C757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3785616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 — MySQL 8  (XAMPP)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02920" y="4151376"/>
            <a:ext cx="2176272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6C757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4151376"/>
            <a:ext cx="21762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Employee/Dept Tables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770632" y="4151376"/>
            <a:ext cx="2176272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6C757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70632" y="4151376"/>
            <a:ext cx="21762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Leave/Advance Tables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038344" y="4151376"/>
            <a:ext cx="2176272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6C757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38344" y="4151376"/>
            <a:ext cx="21762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Job/Application Tables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931920" y="2176272"/>
            <a:ext cx="0" cy="164592"/>
          </a:xfrm>
          <a:prstGeom prst="line">
            <a:avLst/>
          </a:prstGeom>
          <a:noFill/>
          <a:ln w="15240">
            <a:solidFill>
              <a:srgbClr val="6C757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069080" y="2176272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/ REST / JSON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3931920" y="3547872"/>
            <a:ext cx="0" cy="164592"/>
          </a:xfrm>
          <a:prstGeom prst="line">
            <a:avLst/>
          </a:prstGeom>
          <a:noFill/>
          <a:ln w="15240">
            <a:solidFill>
              <a:srgbClr val="6C757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069080" y="3547872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JDBC / JPA / Hibernate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7863840" y="2359152"/>
            <a:ext cx="1097280" cy="1170432"/>
          </a:xfrm>
          <a:prstGeom prst="rect">
            <a:avLst/>
          </a:prstGeom>
          <a:solidFill>
            <a:srgbClr val="FFFBEB"/>
          </a:solidFill>
          <a:ln w="15240">
            <a:solidFill>
              <a:srgbClr val="FCD34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863840" y="2359152"/>
            <a:ext cx="10972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7680960" y="2944368"/>
            <a:ext cx="182880" cy="0"/>
          </a:xfrm>
          <a:prstGeom prst="line">
            <a:avLst/>
          </a:prstGeom>
          <a:noFill/>
          <a:ln w="15240">
            <a:solidFill>
              <a:srgbClr val="FCD34D"/>
            </a:solidFill>
            <a:prstDash val="dash"/>
          </a:ln>
        </p:spPr>
      </p:sp>
      <p:sp>
        <p:nvSpPr>
          <p:cNvPr id="41" name="Text 39"/>
          <p:cNvSpPr/>
          <p:nvPr/>
        </p:nvSpPr>
        <p:spPr>
          <a:xfrm>
            <a:off x="7360920" y="2798064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calls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8503920" y="486460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C757D"/>
                </a:solidFill>
              </a:rPr>
              <a:t>9 / 25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D0271D"/>
          </a:solidFill>
          <a:ln w="12700">
            <a:solidFill>
              <a:srgbClr val="D0271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Integration — Smart HR Engine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960120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AI-powered features built into the platform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47472" y="932688"/>
            <a:ext cx="8449056" cy="56692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7472" y="932688"/>
            <a:ext cx="8449056" cy="54864"/>
          </a:xfrm>
          <a:prstGeom prst="rect">
            <a:avLst/>
          </a:prstGeom>
          <a:solidFill>
            <a:srgbClr val="D0271D"/>
          </a:solidFill>
          <a:ln w="12700">
            <a:solidFill>
              <a:srgbClr val="D0271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93268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Nexus HCM integrates OpenAI GPT-4 to transform raw HR data into actionable intelligence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47472" y="1627632"/>
            <a:ext cx="411480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9525">
            <a:solidFill>
              <a:srgbClr val="E9ECE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7472" y="1627632"/>
            <a:ext cx="41148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737360"/>
            <a:ext cx="3886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AI-Powered HR Report Generation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103120"/>
            <a:ext cx="3794760" cy="0"/>
          </a:xfrm>
          <a:prstGeom prst="line">
            <a:avLst/>
          </a:prstGeom>
          <a:noFill/>
          <a:ln w="6350">
            <a:solidFill>
              <a:srgbClr val="E9ECE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212848"/>
            <a:ext cx="292608" cy="29260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2128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22960" y="2231136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Admin clicks "Generate Report"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7200" y="2642616"/>
            <a:ext cx="292608" cy="29260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6426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22960" y="2660904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aggregates: headcount, leave rates, attendance, dept breakdown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57200" y="3072384"/>
            <a:ext cx="292608" cy="29260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0723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22960" y="3090672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bundled into a structured prompt for GPT-4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57200" y="3502152"/>
            <a:ext cx="292608" cy="29260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35021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22960" y="3520440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 returns natural-language executive HR summary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57200" y="3931920"/>
            <a:ext cx="292608" cy="29260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39319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22960" y="3950208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displayed instantly in the dashboard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57200" y="4480560"/>
            <a:ext cx="1463040" cy="237744"/>
          </a:xfrm>
          <a:prstGeom prst="rect">
            <a:avLst/>
          </a:prstGeom>
          <a:solidFill>
            <a:srgbClr val="CCFBF1"/>
          </a:solidFill>
          <a:ln w="7620">
            <a:solidFill>
              <a:srgbClr val="0000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448056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✅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681728" y="1627632"/>
            <a:ext cx="411480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9525">
            <a:solidFill>
              <a:srgbClr val="E9ECE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681728" y="1627632"/>
            <a:ext cx="4114800" cy="73152"/>
          </a:xfrm>
          <a:prstGeom prst="rect">
            <a:avLst/>
          </a:prstGeom>
          <a:solidFill>
            <a:srgbClr val="FD7E14"/>
          </a:solidFill>
          <a:ln w="12700">
            <a:solidFill>
              <a:srgbClr val="FD7E1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00600" y="1737360"/>
            <a:ext cx="3886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Intelligent CV Screening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800600" y="2103120"/>
            <a:ext cx="3794760" cy="0"/>
          </a:xfrm>
          <a:prstGeom prst="line">
            <a:avLst/>
          </a:prstGeom>
          <a:noFill/>
          <a:ln w="6350">
            <a:solidFill>
              <a:srgbClr val="E9ECE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800600" y="2212848"/>
            <a:ext cx="292608" cy="292608"/>
          </a:xfrm>
          <a:prstGeom prst="ellipse">
            <a:avLst/>
          </a:prstGeom>
          <a:solidFill>
            <a:srgbClr val="FD7E14"/>
          </a:solidFill>
          <a:ln w="12700">
            <a:solidFill>
              <a:srgbClr val="FD7E1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00600" y="22128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166360" y="2231136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submits application with CV and cover letter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800600" y="2642616"/>
            <a:ext cx="292608" cy="292608"/>
          </a:xfrm>
          <a:prstGeom prst="ellipse">
            <a:avLst/>
          </a:prstGeom>
          <a:solidFill>
            <a:srgbClr val="FD7E14"/>
          </a:solidFill>
          <a:ln w="12700">
            <a:solidFill>
              <a:srgbClr val="FD7E1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00600" y="26426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166360" y="2660904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extracts text from CV and cover letter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800600" y="3072384"/>
            <a:ext cx="292608" cy="292608"/>
          </a:xfrm>
          <a:prstGeom prst="ellipse">
            <a:avLst/>
          </a:prstGeom>
          <a:solidFill>
            <a:srgbClr val="FD7E14"/>
          </a:solidFill>
          <a:ln w="12700">
            <a:solidFill>
              <a:srgbClr val="FD7E1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00600" y="30723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166360" y="3090672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compares content against job requirements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800600" y="3502152"/>
            <a:ext cx="292608" cy="292608"/>
          </a:xfrm>
          <a:prstGeom prst="ellipse">
            <a:avLst/>
          </a:prstGeom>
          <a:solidFill>
            <a:srgbClr val="FD7E14"/>
          </a:solidFill>
          <a:ln w="12700">
            <a:solidFill>
              <a:srgbClr val="FD7E1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00600" y="35021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166360" y="3520440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match score 0–100 with skill highlights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4800600" y="3931920"/>
            <a:ext cx="292608" cy="292608"/>
          </a:xfrm>
          <a:prstGeom prst="ellipse">
            <a:avLst/>
          </a:prstGeom>
          <a:solidFill>
            <a:srgbClr val="FD7E14"/>
          </a:solidFill>
          <a:ln w="12700">
            <a:solidFill>
              <a:srgbClr val="FD7E1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800600" y="39319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5166360" y="3950208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badge appears on each application row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4800600" y="4480560"/>
            <a:ext cx="1463040" cy="237744"/>
          </a:xfrm>
          <a:prstGeom prst="rect">
            <a:avLst/>
          </a:prstGeom>
          <a:solidFill>
            <a:srgbClr val="FFE5CA"/>
          </a:solidFill>
          <a:ln w="7620">
            <a:solidFill>
              <a:srgbClr val="00000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800600" y="448056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D7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✅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347472" y="4864608"/>
            <a:ext cx="8449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OpenAI GPT-4 API — integrated via Spring Boot RestTemplate / HTTP Client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8503920" y="486460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C757D"/>
                </a:solidFill>
              </a:rPr>
              <a:t>10 / 25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D0271D"/>
          </a:solidFill>
          <a:ln w="12700">
            <a:solidFill>
              <a:srgbClr val="D0271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Methodology — Agile Scrum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960120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 delivery with continuous supervisor feedback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47472" y="960120"/>
            <a:ext cx="4389120" cy="2743200"/>
          </a:xfrm>
          <a:prstGeom prst="roundRect">
            <a:avLst>
              <a:gd name="adj" fmla="val 2667"/>
            </a:avLst>
          </a:prstGeom>
          <a:solidFill>
            <a:srgbClr val="F8F9FA"/>
          </a:solidFill>
          <a:ln w="9525">
            <a:solidFill>
              <a:srgbClr val="E9ECE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47472" y="960120"/>
            <a:ext cx="43891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 scrum.png  ]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956048" y="960120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027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Agile Scrum?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956048" y="135331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Iterative delivery of functional modules each sprint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956048" y="176479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Continuous feedback from company supervisor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956048" y="217627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Adapts quickly to evolving requirements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956048" y="258775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Each sprint ends with a working, tested increment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47472" y="3822192"/>
            <a:ext cx="8449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Planning  ·  01 April – 30 September 2026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47472" y="4160520"/>
            <a:ext cx="1627632" cy="749808"/>
          </a:xfrm>
          <a:prstGeom prst="rect">
            <a:avLst/>
          </a:prstGeom>
          <a:solidFill>
            <a:srgbClr val="6C757D"/>
          </a:solidFill>
          <a:ln w="12700">
            <a:solidFill>
              <a:srgbClr val="6C757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7472" y="4187952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47472" y="4480560"/>
            <a:ext cx="1627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01/04–14/04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347472" y="4700016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&amp; Architecture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066544" y="4160520"/>
            <a:ext cx="1627632" cy="749808"/>
          </a:xfrm>
          <a:prstGeom prst="rect">
            <a:avLst/>
          </a:prstGeom>
          <a:solidFill>
            <a:srgbClr val="0D6EFD"/>
          </a:solidFill>
          <a:ln w="12700">
            <a:solidFill>
              <a:srgbClr val="0D6EF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066544" y="4187952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066544" y="4480560"/>
            <a:ext cx="1627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15/04–30/04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2066544" y="4700016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&amp; Employees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785616" y="4160520"/>
            <a:ext cx="1627632" cy="7498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785616" y="4187952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785616" y="4480560"/>
            <a:ext cx="1627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01/05–31/05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3785616" y="4700016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Operations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504688" y="4160520"/>
            <a:ext cx="1627632" cy="749808"/>
          </a:xfrm>
          <a:prstGeom prst="rect">
            <a:avLst/>
          </a:prstGeom>
          <a:solidFill>
            <a:srgbClr val="D0271D"/>
          </a:solidFill>
          <a:ln w="12700">
            <a:solidFill>
              <a:srgbClr val="D0271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504688" y="4187952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504688" y="4480560"/>
            <a:ext cx="1627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01/06–31/07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5504688" y="4700016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Recruitment &amp; AI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7223760" y="4160520"/>
            <a:ext cx="1627632" cy="749808"/>
          </a:xfrm>
          <a:prstGeom prst="rect">
            <a:avLst/>
          </a:prstGeom>
          <a:solidFill>
            <a:srgbClr val="6F42C1"/>
          </a:solidFill>
          <a:ln w="12700">
            <a:solidFill>
              <a:srgbClr val="6F42C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223760" y="4187952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223760" y="4480560"/>
            <a:ext cx="1627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01/08–30/09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7223760" y="4700016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Polish &amp; Deploy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8503920" y="486460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C757D"/>
                </a:solidFill>
              </a:rPr>
              <a:t>11 / 25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D0271D"/>
          </a:solidFill>
          <a:ln w="12700">
            <a:solidFill>
              <a:srgbClr val="D0271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 — HR Administration (1/3)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47472" y="960120"/>
            <a:ext cx="4114800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E9ECE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472" y="960120"/>
            <a:ext cx="4114800" cy="64008"/>
          </a:xfrm>
          <a:prstGeom prst="rect">
            <a:avLst/>
          </a:prstGeom>
          <a:solidFill>
            <a:srgbClr val="D0271D"/>
          </a:solidFill>
          <a:ln w="12700">
            <a:solidFill>
              <a:srgbClr val="D0271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69848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 Employee Management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57200" y="1417320"/>
            <a:ext cx="3895344" cy="1005840"/>
          </a:xfrm>
          <a:prstGeom prst="rect">
            <a:avLst/>
          </a:prstGeom>
          <a:solidFill>
            <a:srgbClr val="F1F3F5"/>
          </a:solidFill>
          <a:ln w="12700">
            <a:solidFill>
              <a:srgbClr val="E9ECEF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457200" y="1755648"/>
            <a:ext cx="3895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Screenshot: Employee List &amp; Create Form ]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57200" y="2514600"/>
            <a:ext cx="3895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CRUD lifecycle  ·  Department assignment  ·  Activation email  ·  Role management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681728" y="960120"/>
            <a:ext cx="4114800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E9ECE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81728" y="960120"/>
            <a:ext cx="4114800" cy="64008"/>
          </a:xfrm>
          <a:prstGeom prst="rect">
            <a:avLst/>
          </a:prstGeom>
          <a:solidFill>
            <a:srgbClr val="D0271D"/>
          </a:solidFill>
          <a:ln w="12700">
            <a:solidFill>
              <a:srgbClr val="D0271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91456" y="1069848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🌳  Org Chart — Collapsible Tree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791456" y="1417320"/>
            <a:ext cx="3895344" cy="1005840"/>
          </a:xfrm>
          <a:prstGeom prst="rect">
            <a:avLst/>
          </a:prstGeom>
          <a:solidFill>
            <a:srgbClr val="F1F3F5"/>
          </a:solidFill>
          <a:ln w="12700">
            <a:solidFill>
              <a:srgbClr val="E9ECEF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4791456" y="1755648"/>
            <a:ext cx="3895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Screenshot: Org Chart, Expanded View ]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791456" y="2514600"/>
            <a:ext cx="3895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Recursive tree algorithm  ·  Collapse/expand subtrees  ·  Quick manager reassignment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47472" y="3017520"/>
            <a:ext cx="4114800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E9ECE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47472" y="3017520"/>
            <a:ext cx="4114800" cy="64008"/>
          </a:xfrm>
          <a:prstGeom prst="rect">
            <a:avLst/>
          </a:prstGeom>
          <a:solidFill>
            <a:srgbClr val="D0271D"/>
          </a:solidFill>
          <a:ln w="12700">
            <a:solidFill>
              <a:srgbClr val="D0271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127248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Leave &amp; Salary Advance Management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57200" y="3474720"/>
            <a:ext cx="3895344" cy="1005840"/>
          </a:xfrm>
          <a:prstGeom prst="rect">
            <a:avLst/>
          </a:prstGeom>
          <a:solidFill>
            <a:srgbClr val="F1F3F5"/>
          </a:solidFill>
          <a:ln w="12700">
            <a:solidFill>
              <a:srgbClr val="E9ECEF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457200" y="3813048"/>
            <a:ext cx="3895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Screenshot: Leave Requests Tab ]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57200" y="4572000"/>
            <a:ext cx="3895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→ APPROVED/REJECTED  ·  Badge notifications  ·  Reviewer notes per request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681728" y="3017520"/>
            <a:ext cx="4114800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E9ECE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81728" y="3017520"/>
            <a:ext cx="4114800" cy="64008"/>
          </a:xfrm>
          <a:prstGeom prst="rect">
            <a:avLst/>
          </a:prstGeom>
          <a:solidFill>
            <a:srgbClr val="D0271D"/>
          </a:solidFill>
          <a:ln w="12700">
            <a:solidFill>
              <a:srgbClr val="D0271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91456" y="3127248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Performance Evaluation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791456" y="3474720"/>
            <a:ext cx="3895344" cy="1005840"/>
          </a:xfrm>
          <a:prstGeom prst="rect">
            <a:avLst/>
          </a:prstGeom>
          <a:solidFill>
            <a:srgbClr val="F1F3F5"/>
          </a:solidFill>
          <a:ln w="12700">
            <a:solidFill>
              <a:srgbClr val="E9ECEF"/>
            </a:solidFill>
            <a:prstDash val="dash"/>
          </a:ln>
        </p:spPr>
      </p:sp>
      <p:sp>
        <p:nvSpPr>
          <p:cNvPr id="27" name="Text 25"/>
          <p:cNvSpPr/>
          <p:nvPr/>
        </p:nvSpPr>
        <p:spPr>
          <a:xfrm>
            <a:off x="4791456" y="3813048"/>
            <a:ext cx="3895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Screenshot: Performance Module ]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791456" y="4572000"/>
            <a:ext cx="3895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 campaigns  ·  Per-employee scoring  ·  Period-based history tracking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8503920" y="486460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C757D"/>
                </a:solidFill>
              </a:rPr>
              <a:t>12 / 25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D0271D"/>
          </a:solidFill>
          <a:ln w="12700">
            <a:solidFill>
              <a:srgbClr val="D0271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 — Recruitment &amp; AI (2/3)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47472" y="960120"/>
            <a:ext cx="4114800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E9ECE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472" y="960120"/>
            <a:ext cx="41148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69848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💼  Job Board (HR Admin Panel)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57200" y="1417320"/>
            <a:ext cx="3895344" cy="1005840"/>
          </a:xfrm>
          <a:prstGeom prst="rect">
            <a:avLst/>
          </a:prstGeom>
          <a:solidFill>
            <a:srgbClr val="F1F3F5"/>
          </a:solidFill>
          <a:ln w="12700">
            <a:solidFill>
              <a:srgbClr val="E9ECEF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457200" y="1755648"/>
            <a:ext cx="3895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Screenshot: Job Board, Position List ]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57200" y="2514600"/>
            <a:ext cx="3895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→ OPEN → CLOSED lifecycle  ·  Hiring manager assignment  ·  Application pipeline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681728" y="960120"/>
            <a:ext cx="4114800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E9ECE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81728" y="960120"/>
            <a:ext cx="41148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91456" y="1069848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Public Careers Page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791456" y="1417320"/>
            <a:ext cx="3895344" cy="1005840"/>
          </a:xfrm>
          <a:prstGeom prst="rect">
            <a:avLst/>
          </a:prstGeom>
          <a:solidFill>
            <a:srgbClr val="F1F3F5"/>
          </a:solidFill>
          <a:ln w="12700">
            <a:solidFill>
              <a:srgbClr val="E9ECEF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4791456" y="1755648"/>
            <a:ext cx="3895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Screenshot: Careers Page, Position Cards ]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791456" y="2514600"/>
            <a:ext cx="3895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login required  ·  Department/type filters  ·  Opens detail in new tab  ·  CV upload (5 MB)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47472" y="3017520"/>
            <a:ext cx="4114800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E9ECE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47472" y="3017520"/>
            <a:ext cx="41148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127248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AI HR Report Generation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57200" y="3474720"/>
            <a:ext cx="3895344" cy="1005840"/>
          </a:xfrm>
          <a:prstGeom prst="rect">
            <a:avLst/>
          </a:prstGeom>
          <a:solidFill>
            <a:srgbClr val="F1F3F5"/>
          </a:solidFill>
          <a:ln w="12700">
            <a:solidFill>
              <a:srgbClr val="E9ECEF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457200" y="3813048"/>
            <a:ext cx="3895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Screenshot: AI Report in HR Dashboard ]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57200" y="4572000"/>
            <a:ext cx="3895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generation  ·  GPT-4 natural-language summary  ·  Workforce insights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681728" y="3017520"/>
            <a:ext cx="4114800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E9ECE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81728" y="3017520"/>
            <a:ext cx="41148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91456" y="3127248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Intelligent CV Screening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791456" y="3474720"/>
            <a:ext cx="3895344" cy="1005840"/>
          </a:xfrm>
          <a:prstGeom prst="rect">
            <a:avLst/>
          </a:prstGeom>
          <a:solidFill>
            <a:srgbClr val="F1F3F5"/>
          </a:solidFill>
          <a:ln w="12700">
            <a:solidFill>
              <a:srgbClr val="E9ECEF"/>
            </a:solidFill>
            <a:prstDash val="dash"/>
          </a:ln>
        </p:spPr>
      </p:sp>
      <p:sp>
        <p:nvSpPr>
          <p:cNvPr id="27" name="Text 25"/>
          <p:cNvSpPr/>
          <p:nvPr/>
        </p:nvSpPr>
        <p:spPr>
          <a:xfrm>
            <a:off x="4791456" y="3813048"/>
            <a:ext cx="3895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Screenshot: Application List with AI Scores ]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791456" y="4572000"/>
            <a:ext cx="3895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score 0–100  ·  Skill highlights  ·  Gap analysis  ·  Score badge on each row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8503920" y="486460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C757D"/>
                </a:solidFill>
              </a:rPr>
              <a:t>13 / 25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D0271D"/>
          </a:solidFill>
          <a:ln w="12700">
            <a:solidFill>
              <a:srgbClr val="D0271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 — Manager &amp; Employee Portals (3/3)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47472" y="960120"/>
            <a:ext cx="4114800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E9ECE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472" y="960120"/>
            <a:ext cx="4114800" cy="64008"/>
          </a:xfrm>
          <a:prstGeom prst="rect">
            <a:avLst/>
          </a:prstGeom>
          <a:solidFill>
            <a:srgbClr val="6F42C1"/>
          </a:solidFill>
          <a:ln w="12700">
            <a:solidFill>
              <a:srgbClr val="6F42C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69848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Manager Dashboard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57200" y="1417320"/>
            <a:ext cx="3895344" cy="1005840"/>
          </a:xfrm>
          <a:prstGeom prst="rect">
            <a:avLst/>
          </a:prstGeom>
          <a:solidFill>
            <a:srgbClr val="F1F3F5"/>
          </a:solidFill>
          <a:ln w="12700">
            <a:solidFill>
              <a:srgbClr val="E9ECEF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457200" y="1755648"/>
            <a:ext cx="3895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Screenshot: Manager Dashboard ]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57200" y="2514600"/>
            <a:ext cx="3895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overview  ·  Leave approvals  ·  Weekly attendance calendar  ·  Performance reviews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681728" y="960120"/>
            <a:ext cx="4114800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E9ECE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81728" y="960120"/>
            <a:ext cx="4114800" cy="64008"/>
          </a:xfrm>
          <a:prstGeom prst="rect">
            <a:avLst/>
          </a:prstGeom>
          <a:solidFill>
            <a:srgbClr val="6F42C1"/>
          </a:solidFill>
          <a:ln w="12700">
            <a:solidFill>
              <a:srgbClr val="6F42C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91456" y="1069848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Dynamic System Configuration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791456" y="1417320"/>
            <a:ext cx="3895344" cy="1005840"/>
          </a:xfrm>
          <a:prstGeom prst="rect">
            <a:avLst/>
          </a:prstGeom>
          <a:solidFill>
            <a:srgbClr val="F1F3F5"/>
          </a:solidFill>
          <a:ln w="12700">
            <a:solidFill>
              <a:srgbClr val="E9ECEF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4791456" y="1755648"/>
            <a:ext cx="3895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Screenshot: System Config Panel ]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791456" y="2514600"/>
            <a:ext cx="3895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branding (logo, colors, name)  ·  Propagates to all pages in real time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47472" y="3017520"/>
            <a:ext cx="4114800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E9ECE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47472" y="3017520"/>
            <a:ext cx="4114800" cy="64008"/>
          </a:xfrm>
          <a:prstGeom prst="rect">
            <a:avLst/>
          </a:prstGeom>
          <a:solidFill>
            <a:srgbClr val="6F42C1"/>
          </a:solidFill>
          <a:ln w="12700">
            <a:solidFill>
              <a:srgbClr val="6F42C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127248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🙋  Employee Self-Service Portal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57200" y="3474720"/>
            <a:ext cx="3895344" cy="1005840"/>
          </a:xfrm>
          <a:prstGeom prst="rect">
            <a:avLst/>
          </a:prstGeom>
          <a:solidFill>
            <a:srgbClr val="F1F3F5"/>
          </a:solidFill>
          <a:ln w="12700">
            <a:solidFill>
              <a:srgbClr val="E9ECEF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457200" y="3813048"/>
            <a:ext cx="3895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Screenshot: Employee My-Dashboard ]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57200" y="4572000"/>
            <a:ext cx="3895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management  ·  Leave requests  ·  Salary advance requests  ·  Clock-in/out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681728" y="3017520"/>
            <a:ext cx="4114800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E9ECE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81728" y="3017520"/>
            <a:ext cx="4114800" cy="64008"/>
          </a:xfrm>
          <a:prstGeom prst="rect">
            <a:avLst/>
          </a:prstGeom>
          <a:solidFill>
            <a:srgbClr val="6F42C1"/>
          </a:solidFill>
          <a:ln w="12700">
            <a:solidFill>
              <a:srgbClr val="6F42C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91456" y="3127248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  Attendance &amp; Clock System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791456" y="3474720"/>
            <a:ext cx="3895344" cy="1005840"/>
          </a:xfrm>
          <a:prstGeom prst="rect">
            <a:avLst/>
          </a:prstGeom>
          <a:solidFill>
            <a:srgbClr val="F1F3F5"/>
          </a:solidFill>
          <a:ln w="12700">
            <a:solidFill>
              <a:srgbClr val="E9ECEF"/>
            </a:solidFill>
            <a:prstDash val="dash"/>
          </a:ln>
        </p:spPr>
      </p:sp>
      <p:sp>
        <p:nvSpPr>
          <p:cNvPr id="27" name="Text 25"/>
          <p:cNvSpPr/>
          <p:nvPr/>
        </p:nvSpPr>
        <p:spPr>
          <a:xfrm>
            <a:off x="4791456" y="3813048"/>
            <a:ext cx="3895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Screenshot: Attendance Tracker ]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791456" y="4572000"/>
            <a:ext cx="3895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check-in / check-out  ·  Per-employee daily log  ·  Manager team calendar view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8503920" y="486460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C757D"/>
                </a:solidFill>
              </a:rPr>
              <a:t>14 / 25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D0271D"/>
          </a:solidFill>
          <a:ln w="12700">
            <a:solidFill>
              <a:srgbClr val="D0271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Architecture — JWT &amp; RBAC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987552"/>
            <a:ext cx="1463040" cy="475488"/>
          </a:xfrm>
          <a:prstGeom prst="rect">
            <a:avLst/>
          </a:prstGeom>
          <a:solidFill>
            <a:srgbClr val="6C757D"/>
          </a:solidFill>
          <a:ln w="12700">
            <a:solidFill>
              <a:srgbClr val="6C757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987552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097280" y="1463040"/>
            <a:ext cx="0" cy="3566160"/>
          </a:xfrm>
          <a:prstGeom prst="line">
            <a:avLst/>
          </a:prstGeom>
          <a:noFill/>
          <a:ln w="7620">
            <a:solidFill>
              <a:srgbClr val="000000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2377440" y="987552"/>
            <a:ext cx="1463040" cy="475488"/>
          </a:xfrm>
          <a:prstGeom prst="rect">
            <a:avLst/>
          </a:prstGeom>
          <a:solidFill>
            <a:srgbClr val="0D6EFD"/>
          </a:solidFill>
          <a:ln w="12700">
            <a:solidFill>
              <a:srgbClr val="0D6EF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377440" y="987552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108960" y="1463040"/>
            <a:ext cx="0" cy="3566160"/>
          </a:xfrm>
          <a:prstGeom prst="line">
            <a:avLst/>
          </a:prstGeom>
          <a:noFill/>
          <a:ln w="7620">
            <a:solidFill>
              <a:srgbClr val="000000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4389120" y="987552"/>
            <a:ext cx="1463040" cy="475488"/>
          </a:xfrm>
          <a:prstGeom prst="rect">
            <a:avLst/>
          </a:prstGeom>
          <a:solidFill>
            <a:srgbClr val="6F42C1"/>
          </a:solidFill>
          <a:ln w="12700">
            <a:solidFill>
              <a:srgbClr val="6F42C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389120" y="987552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JwtFilter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120640" y="1463040"/>
            <a:ext cx="0" cy="3566160"/>
          </a:xfrm>
          <a:prstGeom prst="line">
            <a:avLst/>
          </a:prstGeom>
          <a:noFill/>
          <a:ln w="7620">
            <a:solidFill>
              <a:srgbClr val="000000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6400800" y="987552"/>
            <a:ext cx="1463040" cy="475488"/>
          </a:xfrm>
          <a:prstGeom prst="rect">
            <a:avLst/>
          </a:prstGeom>
          <a:solidFill>
            <a:srgbClr val="D0271D"/>
          </a:solidFill>
          <a:ln w="12700">
            <a:solidFill>
              <a:srgbClr val="D0271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00800" y="987552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132320" y="1463040"/>
            <a:ext cx="0" cy="3566160"/>
          </a:xfrm>
          <a:prstGeom prst="line">
            <a:avLst/>
          </a:prstGeom>
          <a:noFill/>
          <a:ln w="7620">
            <a:solidFill>
              <a:srgbClr val="000000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8412480" y="987552"/>
            <a:ext cx="1463040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412480" y="987552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9144000" y="1463040"/>
            <a:ext cx="0" cy="3566160"/>
          </a:xfrm>
          <a:prstGeom prst="line">
            <a:avLst/>
          </a:prstGeom>
          <a:noFill/>
          <a:ln w="7620">
            <a:solidFill>
              <a:srgbClr val="000000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1097280" y="1719072"/>
            <a:ext cx="2011680" cy="0"/>
          </a:xfrm>
          <a:prstGeom prst="line">
            <a:avLst/>
          </a:prstGeom>
          <a:noFill/>
          <a:ln w="15240">
            <a:solidFill>
              <a:srgbClr val="D0271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1517904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027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/api/auth/login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035808" y="1673352"/>
            <a:ext cx="91440" cy="91440"/>
          </a:xfrm>
          <a:prstGeom prst="ellipse">
            <a:avLst/>
          </a:prstGeom>
          <a:solidFill>
            <a:srgbClr val="D0271D"/>
          </a:solidFill>
          <a:ln w="12700">
            <a:solidFill>
              <a:srgbClr val="D0271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108960" y="2121408"/>
            <a:ext cx="4023360" cy="0"/>
          </a:xfrm>
          <a:prstGeom prst="line">
            <a:avLst/>
          </a:prstGeom>
          <a:noFill/>
          <a:ln w="15240">
            <a:solidFill>
              <a:srgbClr val="D0271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91840" y="192024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027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/api/auth/login (forward)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7059168" y="2075688"/>
            <a:ext cx="91440" cy="91440"/>
          </a:xfrm>
          <a:prstGeom prst="ellipse">
            <a:avLst/>
          </a:prstGeom>
          <a:solidFill>
            <a:srgbClr val="D0271D"/>
          </a:solidFill>
          <a:ln w="12700">
            <a:solidFill>
              <a:srgbClr val="D0271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132320" y="2523744"/>
            <a:ext cx="2011680" cy="0"/>
          </a:xfrm>
          <a:prstGeom prst="line">
            <a:avLst/>
          </a:prstGeom>
          <a:noFill/>
          <a:ln w="1524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09360" y="232257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findByEmail()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9070848" y="2478024"/>
            <a:ext cx="91440" cy="914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132320" y="2907792"/>
            <a:ext cx="2011680" cy="0"/>
          </a:xfrm>
          <a:prstGeom prst="line">
            <a:avLst/>
          </a:prstGeom>
          <a:noFill/>
          <a:ln w="15240">
            <a:solidFill>
              <a:srgbClr val="0D94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09360" y="2706624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entity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7132320" y="2862072"/>
            <a:ext cx="91440" cy="914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108960" y="3310128"/>
            <a:ext cx="4023360" cy="0"/>
          </a:xfrm>
          <a:prstGeom prst="line">
            <a:avLst/>
          </a:prstGeom>
          <a:noFill/>
          <a:ln w="15240">
            <a:solidFill>
              <a:srgbClr val="19875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91840" y="310896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98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token + role + name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3108960" y="3264408"/>
            <a:ext cx="91440" cy="91440"/>
          </a:xfrm>
          <a:prstGeom prst="ellipse">
            <a:avLst/>
          </a:prstGeom>
          <a:solidFill>
            <a:srgbClr val="198754"/>
          </a:solidFill>
          <a:ln w="12700">
            <a:solidFill>
              <a:srgbClr val="19875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97280" y="3712464"/>
            <a:ext cx="2011680" cy="0"/>
          </a:xfrm>
          <a:prstGeom prst="line">
            <a:avLst/>
          </a:prstGeom>
          <a:noFill/>
          <a:ln w="1524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74320" y="351129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in localStorage, redirect to /dashboard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1097280" y="3666744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47472" y="4645152"/>
            <a:ext cx="8449056" cy="320040"/>
          </a:xfrm>
          <a:prstGeom prst="rect">
            <a:avLst/>
          </a:prstGeom>
          <a:solidFill>
            <a:srgbClr val="252545"/>
          </a:solidFill>
          <a:ln w="7620">
            <a:solidFill>
              <a:srgbClr val="3A3A5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 Role-Based Access Control:  HR Admin  →  /dashboard   |   Manager  →  /manager-dashboard   |   Employee  →  /my-dashboard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8503920" y="486460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C757D"/>
                </a:solidFill>
              </a:rPr>
              <a:t>15 / 25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D0271D"/>
          </a:solidFill>
          <a:ln w="12700">
            <a:solidFill>
              <a:srgbClr val="D0271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 — Entity Model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960120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entities, Hibernate auto-DDL, MySQL 8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474720" y="1005840"/>
            <a:ext cx="2468880" cy="1499616"/>
          </a:xfrm>
          <a:prstGeom prst="rect">
            <a:avLst/>
          </a:prstGeom>
          <a:solidFill>
            <a:srgbClr val="FFFFFF"/>
          </a:solidFill>
          <a:ln w="12700">
            <a:solidFill>
              <a:srgbClr val="D0271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74720" y="1005840"/>
            <a:ext cx="2468880" cy="347472"/>
          </a:xfrm>
          <a:prstGeom prst="rect">
            <a:avLst/>
          </a:prstGeom>
          <a:solidFill>
            <a:srgbClr val="D0271D"/>
          </a:solidFill>
          <a:ln w="12700">
            <a:solidFill>
              <a:srgbClr val="D0271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0" y="100584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566160" y="1408176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43A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id, firstName, lastName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3566160" y="1664208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43A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email, password, role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3566160" y="192024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43A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status, manager(FK)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566160" y="2176272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43A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department(FK)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347472" y="1005840"/>
            <a:ext cx="24688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0D6EF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7472" y="1005840"/>
            <a:ext cx="2468880" cy="347472"/>
          </a:xfrm>
          <a:prstGeom prst="rect">
            <a:avLst/>
          </a:prstGeom>
          <a:solidFill>
            <a:srgbClr val="0D6EFD"/>
          </a:solidFill>
          <a:ln w="12700">
            <a:solidFill>
              <a:srgbClr val="0D6EF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7472" y="100584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38912" y="1408176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43A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id, name, createdAt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6583680" y="1005840"/>
            <a:ext cx="246888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6C757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83680" y="1005840"/>
            <a:ext cx="2468880" cy="347472"/>
          </a:xfrm>
          <a:prstGeom prst="rect">
            <a:avLst/>
          </a:prstGeom>
          <a:solidFill>
            <a:srgbClr val="6C757D"/>
          </a:solidFill>
          <a:ln w="12700">
            <a:solidFill>
              <a:srgbClr val="6C757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0" y="100584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SystemConfig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675120" y="1408176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43A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id, configKey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6675120" y="1664208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43A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configValue, category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347472" y="3291840"/>
            <a:ext cx="2468880" cy="1243584"/>
          </a:xfrm>
          <a:prstGeom prst="rect">
            <a:avLst/>
          </a:prstGeom>
          <a:solidFill>
            <a:srgbClr val="FFFFFF"/>
          </a:solidFill>
          <a:ln w="12700">
            <a:solidFill>
              <a:srgbClr val="FD7E1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47472" y="3291840"/>
            <a:ext cx="2468880" cy="347472"/>
          </a:xfrm>
          <a:prstGeom prst="rect">
            <a:avLst/>
          </a:prstGeom>
          <a:solidFill>
            <a:srgbClr val="FD7E14"/>
          </a:solidFill>
          <a:ln w="12700">
            <a:solidFill>
              <a:srgbClr val="FD7E1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" y="329184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LeaveRequest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38912" y="3694176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43A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id, employee(FK)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438912" y="3950208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43A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type, startDate, endDate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438912" y="420624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43A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status, reviewedBy(FK)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6583680" y="3291840"/>
            <a:ext cx="246888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583680" y="3291840"/>
            <a:ext cx="246888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83680" y="329184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675120" y="3694176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43A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id, employee(FK)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6675120" y="3950208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43A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date, checkIn, checkOut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3474720" y="3291840"/>
            <a:ext cx="2468880" cy="1243584"/>
          </a:xfrm>
          <a:prstGeom prst="rect">
            <a:avLst/>
          </a:prstGeom>
          <a:solidFill>
            <a:srgbClr val="FFFFFF"/>
          </a:solidFill>
          <a:ln w="12700">
            <a:solidFill>
              <a:srgbClr val="6F42C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474720" y="3291840"/>
            <a:ext cx="2468880" cy="347472"/>
          </a:xfrm>
          <a:prstGeom prst="rect">
            <a:avLst/>
          </a:prstGeom>
          <a:solidFill>
            <a:srgbClr val="6F42C1"/>
          </a:solidFill>
          <a:ln w="12700">
            <a:solidFill>
              <a:srgbClr val="6F42C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474720" y="329184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SalaryAdvance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566160" y="3694176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43A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id, employee(FK)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3566160" y="3950208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43A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amount, reason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3566160" y="420624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43A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status, reviewedBy(FK)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347472" y="4800600"/>
            <a:ext cx="2468880" cy="1243584"/>
          </a:xfrm>
          <a:prstGeom prst="rect">
            <a:avLst/>
          </a:prstGeom>
          <a:solidFill>
            <a:srgbClr val="FFFFFF"/>
          </a:solidFill>
          <a:ln w="12700">
            <a:solidFill>
              <a:srgbClr val="D0271D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47472" y="4800600"/>
            <a:ext cx="2468880" cy="347472"/>
          </a:xfrm>
          <a:prstGeom prst="rect">
            <a:avLst/>
          </a:prstGeom>
          <a:solidFill>
            <a:srgbClr val="D0271D"/>
          </a:solidFill>
          <a:ln w="12700">
            <a:solidFill>
              <a:srgbClr val="D0271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47472" y="480060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JobPosition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38912" y="5202936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43A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id, title, department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438912" y="5458968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43A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jobType, status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438912" y="571500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43A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salaryMin, salaryMax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3474720" y="4800600"/>
            <a:ext cx="2468880" cy="1243584"/>
          </a:xfrm>
          <a:prstGeom prst="rect">
            <a:avLst/>
          </a:prstGeom>
          <a:solidFill>
            <a:srgbClr val="FFFFFF"/>
          </a:solidFill>
          <a:ln w="12700">
            <a:solidFill>
              <a:srgbClr val="198754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474720" y="4800600"/>
            <a:ext cx="2468880" cy="347472"/>
          </a:xfrm>
          <a:prstGeom prst="rect">
            <a:avLst/>
          </a:prstGeom>
          <a:solidFill>
            <a:srgbClr val="198754"/>
          </a:solidFill>
          <a:ln w="12700">
            <a:solidFill>
              <a:srgbClr val="19875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474720" y="480060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JobApplication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3566160" y="5202936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43A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id, position(FK)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3566160" y="5458968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43A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applicantName, email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3566160" y="571500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43A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cvFileName, cvData, status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2834640" y="1828800"/>
            <a:ext cx="640080" cy="9144"/>
          </a:xfrm>
          <a:prstGeom prst="line">
            <a:avLst/>
          </a:prstGeom>
          <a:noFill/>
          <a:ln w="10160">
            <a:solidFill>
              <a:srgbClr val="E9ECE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800600" y="2011680"/>
            <a:ext cx="9144" cy="1280160"/>
          </a:xfrm>
          <a:prstGeom prst="line">
            <a:avLst/>
          </a:prstGeom>
          <a:noFill/>
          <a:ln w="10160">
            <a:solidFill>
              <a:srgbClr val="E9ECEF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206240" y="2697480"/>
            <a:ext cx="9144" cy="594360"/>
          </a:xfrm>
          <a:prstGeom prst="line">
            <a:avLst/>
          </a:prstGeom>
          <a:noFill/>
          <a:ln w="10160">
            <a:solidFill>
              <a:srgbClr val="E9ECEF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581912" y="2651760"/>
            <a:ext cx="2075688" cy="640080"/>
          </a:xfrm>
          <a:prstGeom prst="line">
            <a:avLst/>
          </a:prstGeom>
          <a:noFill/>
          <a:ln w="10160">
            <a:solidFill>
              <a:srgbClr val="E9ECEF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943600" y="2286000"/>
            <a:ext cx="640080" cy="1554480"/>
          </a:xfrm>
          <a:prstGeom prst="line">
            <a:avLst/>
          </a:prstGeom>
          <a:noFill/>
          <a:ln w="10160">
            <a:solidFill>
              <a:srgbClr val="E9ECE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503920" y="486460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C757D"/>
                </a:solidFill>
              </a:rPr>
              <a:t>17 / 25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D0271D"/>
          </a:solidFill>
          <a:ln w="12700">
            <a:solidFill>
              <a:srgbClr val="D0271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Highlights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47472" y="987552"/>
            <a:ext cx="2743200" cy="3657600"/>
          </a:xfrm>
          <a:prstGeom prst="rect">
            <a:avLst/>
          </a:prstGeom>
          <a:solidFill>
            <a:srgbClr val="252545"/>
          </a:solidFill>
          <a:ln w="8890">
            <a:solidFill>
              <a:srgbClr val="3A3A5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7472" y="987552"/>
            <a:ext cx="2743200" cy="73152"/>
          </a:xfrm>
          <a:prstGeom prst="rect">
            <a:avLst/>
          </a:prstGeom>
          <a:solidFill>
            <a:srgbClr val="D0271D"/>
          </a:solidFill>
          <a:ln w="12700">
            <a:solidFill>
              <a:srgbClr val="D0271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78992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 Security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463040"/>
            <a:ext cx="2514600" cy="0"/>
          </a:xfrm>
          <a:prstGeom prst="line">
            <a:avLst/>
          </a:prstGeom>
          <a:noFill/>
          <a:ln w="6350">
            <a:solidFill>
              <a:srgbClr val="3A3A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572768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027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JWT tokens (HS256)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2093976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027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password hashing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2615184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027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endpoint protection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3136392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027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 configuration per origin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365760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027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 token (UUID, one-time)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27832" y="987552"/>
            <a:ext cx="2743200" cy="3657600"/>
          </a:xfrm>
          <a:prstGeom prst="rect">
            <a:avLst/>
          </a:prstGeom>
          <a:solidFill>
            <a:srgbClr val="252545"/>
          </a:solidFill>
          <a:ln w="8890">
            <a:solidFill>
              <a:srgbClr val="3A3A5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27832" y="987552"/>
            <a:ext cx="2743200" cy="73152"/>
          </a:xfrm>
          <a:prstGeom prst="rect">
            <a:avLst/>
          </a:prstGeom>
          <a:solidFill>
            <a:srgbClr val="6F42C1"/>
          </a:solidFill>
          <a:ln w="12700">
            <a:solidFill>
              <a:srgbClr val="6F42C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37560" y="1078992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Architecture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337560" y="1463040"/>
            <a:ext cx="2514600" cy="0"/>
          </a:xfrm>
          <a:prstGeom prst="line">
            <a:avLst/>
          </a:prstGeom>
          <a:noFill/>
          <a:ln w="6350">
            <a:solidFill>
              <a:srgbClr val="3A3A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37560" y="1572768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F42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17 standalone components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337560" y="2093976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F42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3 layered pattern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337560" y="2615184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F42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Hibernate auto-DDL schema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337560" y="3136392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F42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RESTful stateless API design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337560" y="365760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F42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APP_INITIALIZER config loading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108192" y="987552"/>
            <a:ext cx="2743200" cy="3657600"/>
          </a:xfrm>
          <a:prstGeom prst="rect">
            <a:avLst/>
          </a:prstGeom>
          <a:solidFill>
            <a:srgbClr val="252545"/>
          </a:solidFill>
          <a:ln w="8890">
            <a:solidFill>
              <a:srgbClr val="3A3A5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108192" y="987552"/>
            <a:ext cx="27432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17920" y="1078992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AI &amp; Data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217920" y="1463040"/>
            <a:ext cx="2514600" cy="0"/>
          </a:xfrm>
          <a:prstGeom prst="line">
            <a:avLst/>
          </a:prstGeom>
          <a:noFill/>
          <a:ln w="6350">
            <a:solidFill>
              <a:srgbClr val="3A3A5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17920" y="1572768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GPT-4 via REST (HTTPS)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217920" y="2093976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base64 storage (LONGTEXT)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217920" y="2615184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Workforce metrics aggregation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217920" y="3136392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CSS variable injection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217920" y="365760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 logging (all actions)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47472" y="4626864"/>
            <a:ext cx="8449056" cy="347472"/>
          </a:xfrm>
          <a:prstGeom prst="rect">
            <a:avLst/>
          </a:prstGeom>
          <a:solidFill>
            <a:srgbClr val="0D1117"/>
          </a:solidFill>
          <a:ln w="6350">
            <a:solidFill>
              <a:srgbClr val="3A3A5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920" y="4645152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AI Prompt Builder
</a:t>
            </a:r>
            <a:pPr indent="0" marL="0">
              <a:buNone/>
            </a:pPr>
            <a:r>
              <a:rPr lang="en-US" sz="8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</a:t>
            </a:r>
            <a:pPr indent="0" marL="0">
              <a:buNone/>
            </a:pPr>
            <a:r>
              <a:rPr lang="en-US" sz="8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</a:t>
            </a:r>
            <a:pPr indent="0" marL="0"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"Analyse these HR metrics and generate a report: " + </a:t>
            </a:r>
            <a:pPr indent="0" marL="0">
              <a:buNone/>
            </a:pPr>
            <a:r>
              <a:rPr lang="en-US" sz="8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metrics</a:t>
            </a:r>
            <a:pPr indent="0" marL="0"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.toJson();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8503920" y="486460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C757D"/>
                </a:solidFill>
              </a:rPr>
              <a:t>18 / 25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D0271D"/>
          </a:solidFill>
          <a:ln w="12700">
            <a:solidFill>
              <a:srgbClr val="D0271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Timeline — April to September 2026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47472" y="987552"/>
            <a:ext cx="1645920" cy="658368"/>
          </a:xfrm>
          <a:prstGeom prst="rect">
            <a:avLst/>
          </a:prstGeom>
          <a:solidFill>
            <a:srgbClr val="343A40"/>
          </a:solidFill>
          <a:ln w="12700">
            <a:solidFill>
              <a:srgbClr val="343A4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47472" y="98755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47472" y="131673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01/04 – 14/04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993392" y="1316736"/>
            <a:ext cx="91440" cy="0"/>
          </a:xfrm>
          <a:prstGeom prst="line">
            <a:avLst/>
          </a:prstGeom>
          <a:noFill/>
          <a:ln w="19050">
            <a:solidFill>
              <a:srgbClr val="E9ECE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7472" y="1755648"/>
            <a:ext cx="1645920" cy="658368"/>
          </a:xfrm>
          <a:prstGeom prst="rect">
            <a:avLst/>
          </a:prstGeom>
          <a:solidFill>
            <a:srgbClr val="F8F9FA"/>
          </a:solidFill>
          <a:ln w="7620">
            <a:solidFill>
              <a:srgbClr val="0000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7472" y="1755648"/>
            <a:ext cx="54864" cy="658368"/>
          </a:xfrm>
          <a:prstGeom prst="rect">
            <a:avLst/>
          </a:prstGeom>
          <a:solidFill>
            <a:srgbClr val="343A40"/>
          </a:solidFill>
          <a:ln w="12700">
            <a:solidFill>
              <a:srgbClr val="343A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755648"/>
            <a:ext cx="1508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setup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47472" y="2505456"/>
            <a:ext cx="1645920" cy="658368"/>
          </a:xfrm>
          <a:prstGeom prst="rect">
            <a:avLst/>
          </a:prstGeom>
          <a:solidFill>
            <a:srgbClr val="F8F9FA"/>
          </a:solidFill>
          <a:ln w="7620">
            <a:solidFill>
              <a:srgbClr val="00000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7472" y="2505456"/>
            <a:ext cx="54864" cy="658368"/>
          </a:xfrm>
          <a:prstGeom prst="rect">
            <a:avLst/>
          </a:prstGeom>
          <a:solidFill>
            <a:srgbClr val="343A40"/>
          </a:solidFill>
          <a:ln w="12700">
            <a:solidFill>
              <a:srgbClr val="343A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505456"/>
            <a:ext cx="1508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design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47472" y="3255264"/>
            <a:ext cx="1645920" cy="658368"/>
          </a:xfrm>
          <a:prstGeom prst="rect">
            <a:avLst/>
          </a:prstGeom>
          <a:solidFill>
            <a:srgbClr val="F8F9FA"/>
          </a:solidFill>
          <a:ln w="7620">
            <a:solidFill>
              <a:srgbClr val="00000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47472" y="3255264"/>
            <a:ext cx="54864" cy="658368"/>
          </a:xfrm>
          <a:prstGeom prst="rect">
            <a:avLst/>
          </a:prstGeom>
          <a:solidFill>
            <a:srgbClr val="343A40"/>
          </a:solidFill>
          <a:ln w="12700">
            <a:solidFill>
              <a:srgbClr val="343A4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255264"/>
            <a:ext cx="1508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modeling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47472" y="4005072"/>
            <a:ext cx="1645920" cy="658368"/>
          </a:xfrm>
          <a:prstGeom prst="rect">
            <a:avLst/>
          </a:prstGeom>
          <a:solidFill>
            <a:srgbClr val="F8F9FA"/>
          </a:solidFill>
          <a:ln w="7620">
            <a:solidFill>
              <a:srgbClr val="00000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47472" y="4005072"/>
            <a:ext cx="54864" cy="658368"/>
          </a:xfrm>
          <a:prstGeom prst="rect">
            <a:avLst/>
          </a:prstGeom>
          <a:solidFill>
            <a:srgbClr val="343A40"/>
          </a:solidFill>
          <a:ln w="12700">
            <a:solidFill>
              <a:srgbClr val="343A4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4005072"/>
            <a:ext cx="1508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validation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084832" y="987552"/>
            <a:ext cx="1645920" cy="658368"/>
          </a:xfrm>
          <a:prstGeom prst="rect">
            <a:avLst/>
          </a:prstGeom>
          <a:solidFill>
            <a:srgbClr val="0D6EFD"/>
          </a:solidFill>
          <a:ln w="12700">
            <a:solidFill>
              <a:srgbClr val="0D6EF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2084832" y="98755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084832" y="131673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15/04 – 30/04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3730752" y="1316736"/>
            <a:ext cx="91440" cy="0"/>
          </a:xfrm>
          <a:prstGeom prst="line">
            <a:avLst/>
          </a:prstGeom>
          <a:noFill/>
          <a:ln w="19050">
            <a:solidFill>
              <a:srgbClr val="E9ECE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084832" y="1755648"/>
            <a:ext cx="1645920" cy="658368"/>
          </a:xfrm>
          <a:prstGeom prst="rect">
            <a:avLst/>
          </a:prstGeom>
          <a:solidFill>
            <a:srgbClr val="F8F9FA"/>
          </a:solidFill>
          <a:ln w="7620">
            <a:solidFill>
              <a:srgbClr val="00000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084832" y="1755648"/>
            <a:ext cx="54864" cy="658368"/>
          </a:xfrm>
          <a:prstGeom prst="rect">
            <a:avLst/>
          </a:prstGeom>
          <a:solidFill>
            <a:srgbClr val="0D6EFD"/>
          </a:solidFill>
          <a:ln w="12700">
            <a:solidFill>
              <a:srgbClr val="0D6EF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194560" y="1755648"/>
            <a:ext cx="1508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authentication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084832" y="2505456"/>
            <a:ext cx="1645920" cy="658368"/>
          </a:xfrm>
          <a:prstGeom prst="rect">
            <a:avLst/>
          </a:prstGeom>
          <a:solidFill>
            <a:srgbClr val="F8F9FA"/>
          </a:solidFill>
          <a:ln w="7620">
            <a:solidFill>
              <a:srgbClr val="00000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084832" y="2505456"/>
            <a:ext cx="54864" cy="658368"/>
          </a:xfrm>
          <a:prstGeom prst="rect">
            <a:avLst/>
          </a:prstGeom>
          <a:solidFill>
            <a:srgbClr val="0D6EFD"/>
          </a:solidFill>
          <a:ln w="12700">
            <a:solidFill>
              <a:srgbClr val="0D6EF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194560" y="2505456"/>
            <a:ext cx="1508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routing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084832" y="3255264"/>
            <a:ext cx="1645920" cy="658368"/>
          </a:xfrm>
          <a:prstGeom prst="rect">
            <a:avLst/>
          </a:prstGeom>
          <a:solidFill>
            <a:srgbClr val="F8F9FA"/>
          </a:solidFill>
          <a:ln w="7620">
            <a:solidFill>
              <a:srgbClr val="00000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084832" y="3255264"/>
            <a:ext cx="54864" cy="658368"/>
          </a:xfrm>
          <a:prstGeom prst="rect">
            <a:avLst/>
          </a:prstGeom>
          <a:solidFill>
            <a:srgbClr val="0D6EFD"/>
          </a:solidFill>
          <a:ln w="12700">
            <a:solidFill>
              <a:srgbClr val="0D6EF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194560" y="3255264"/>
            <a:ext cx="1508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CRUD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084832" y="4005072"/>
            <a:ext cx="1645920" cy="658368"/>
          </a:xfrm>
          <a:prstGeom prst="rect">
            <a:avLst/>
          </a:prstGeom>
          <a:solidFill>
            <a:srgbClr val="F8F9FA"/>
          </a:solidFill>
          <a:ln w="7620">
            <a:solidFill>
              <a:srgbClr val="00000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084832" y="4005072"/>
            <a:ext cx="54864" cy="658368"/>
          </a:xfrm>
          <a:prstGeom prst="rect">
            <a:avLst/>
          </a:prstGeom>
          <a:solidFill>
            <a:srgbClr val="0D6EFD"/>
          </a:solidFill>
          <a:ln w="12700">
            <a:solidFill>
              <a:srgbClr val="0D6EF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194560" y="4005072"/>
            <a:ext cx="1508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Admin dashboard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822192" y="987552"/>
            <a:ext cx="1645920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3822192" y="98755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2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3822192" y="131673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01/05 – 31/05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5468112" y="1316736"/>
            <a:ext cx="91440" cy="0"/>
          </a:xfrm>
          <a:prstGeom prst="line">
            <a:avLst/>
          </a:prstGeom>
          <a:noFill/>
          <a:ln w="19050">
            <a:solidFill>
              <a:srgbClr val="E9ECE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822192" y="1755648"/>
            <a:ext cx="1645920" cy="658368"/>
          </a:xfrm>
          <a:prstGeom prst="rect">
            <a:avLst/>
          </a:prstGeom>
          <a:solidFill>
            <a:srgbClr val="F8F9FA"/>
          </a:solidFill>
          <a:ln w="7620">
            <a:solidFill>
              <a:srgbClr val="00000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822192" y="1755648"/>
            <a:ext cx="54864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931920" y="1755648"/>
            <a:ext cx="1508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 chart (collapsible)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3822192" y="2505456"/>
            <a:ext cx="1645920" cy="658368"/>
          </a:xfrm>
          <a:prstGeom prst="rect">
            <a:avLst/>
          </a:prstGeom>
          <a:solidFill>
            <a:srgbClr val="F8F9FA"/>
          </a:solidFill>
          <a:ln w="7620">
            <a:solidFill>
              <a:srgbClr val="00000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822192" y="2505456"/>
            <a:ext cx="54864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931920" y="2505456"/>
            <a:ext cx="1508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workflow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3822192" y="3255264"/>
            <a:ext cx="1645920" cy="658368"/>
          </a:xfrm>
          <a:prstGeom prst="rect">
            <a:avLst/>
          </a:prstGeom>
          <a:solidFill>
            <a:srgbClr val="F8F9FA"/>
          </a:solidFill>
          <a:ln w="7620">
            <a:solidFill>
              <a:srgbClr val="00000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822192" y="3255264"/>
            <a:ext cx="54864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931920" y="3255264"/>
            <a:ext cx="1508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tracking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3822192" y="4005072"/>
            <a:ext cx="1645920" cy="658368"/>
          </a:xfrm>
          <a:prstGeom prst="rect">
            <a:avLst/>
          </a:prstGeom>
          <a:solidFill>
            <a:srgbClr val="F8F9FA"/>
          </a:solidFill>
          <a:ln w="7620">
            <a:solidFill>
              <a:srgbClr val="00000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822192" y="4005072"/>
            <a:ext cx="54864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931920" y="4005072"/>
            <a:ext cx="1508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 advances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5559552" y="987552"/>
            <a:ext cx="1645920" cy="658368"/>
          </a:xfrm>
          <a:prstGeom prst="rect">
            <a:avLst/>
          </a:prstGeom>
          <a:solidFill>
            <a:srgbClr val="D0271D"/>
          </a:solidFill>
          <a:ln w="12700">
            <a:solidFill>
              <a:srgbClr val="D0271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54" name="Text 52"/>
          <p:cNvSpPr/>
          <p:nvPr/>
        </p:nvSpPr>
        <p:spPr>
          <a:xfrm>
            <a:off x="5559552" y="98755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3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5559552" y="131673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01/06 – 31/07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7205472" y="1316736"/>
            <a:ext cx="91440" cy="0"/>
          </a:xfrm>
          <a:prstGeom prst="line">
            <a:avLst/>
          </a:prstGeom>
          <a:noFill/>
          <a:ln w="19050">
            <a:solidFill>
              <a:srgbClr val="E9ECEF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5559552" y="1755648"/>
            <a:ext cx="1645920" cy="658368"/>
          </a:xfrm>
          <a:prstGeom prst="rect">
            <a:avLst/>
          </a:prstGeom>
          <a:solidFill>
            <a:srgbClr val="F8F9FA"/>
          </a:solidFill>
          <a:ln w="7620">
            <a:solidFill>
              <a:srgbClr val="00000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5559552" y="1755648"/>
            <a:ext cx="54864" cy="658368"/>
          </a:xfrm>
          <a:prstGeom prst="rect">
            <a:avLst/>
          </a:prstGeom>
          <a:solidFill>
            <a:srgbClr val="D0271D"/>
          </a:solidFill>
          <a:ln w="12700">
            <a:solidFill>
              <a:srgbClr val="D0271D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669280" y="1755648"/>
            <a:ext cx="1508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board (HR panel)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5559552" y="2505456"/>
            <a:ext cx="1645920" cy="658368"/>
          </a:xfrm>
          <a:prstGeom prst="rect">
            <a:avLst/>
          </a:prstGeom>
          <a:solidFill>
            <a:srgbClr val="F8F9FA"/>
          </a:solidFill>
          <a:ln w="7620">
            <a:solidFill>
              <a:srgbClr val="000000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559552" y="2505456"/>
            <a:ext cx="54864" cy="658368"/>
          </a:xfrm>
          <a:prstGeom prst="rect">
            <a:avLst/>
          </a:prstGeom>
          <a:solidFill>
            <a:srgbClr val="D0271D"/>
          </a:solidFill>
          <a:ln w="12700">
            <a:solidFill>
              <a:srgbClr val="D0271D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669280" y="2505456"/>
            <a:ext cx="1508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careers page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5559552" y="3255264"/>
            <a:ext cx="1645920" cy="658368"/>
          </a:xfrm>
          <a:prstGeom prst="rect">
            <a:avLst/>
          </a:prstGeom>
          <a:solidFill>
            <a:srgbClr val="F8F9FA"/>
          </a:solidFill>
          <a:ln w="7620">
            <a:solidFill>
              <a:srgbClr val="000000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5559552" y="3255264"/>
            <a:ext cx="54864" cy="658368"/>
          </a:xfrm>
          <a:prstGeom prst="rect">
            <a:avLst/>
          </a:prstGeom>
          <a:solidFill>
            <a:srgbClr val="D0271D"/>
          </a:solidFill>
          <a:ln w="12700">
            <a:solidFill>
              <a:srgbClr val="D0271D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669280" y="3255264"/>
            <a:ext cx="1508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upload feature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5559552" y="4005072"/>
            <a:ext cx="1645920" cy="658368"/>
          </a:xfrm>
          <a:prstGeom prst="rect">
            <a:avLst/>
          </a:prstGeom>
          <a:solidFill>
            <a:srgbClr val="F8F9FA"/>
          </a:solidFill>
          <a:ln w="7620">
            <a:solidFill>
              <a:srgbClr val="000000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5559552" y="4005072"/>
            <a:ext cx="54864" cy="658368"/>
          </a:xfrm>
          <a:prstGeom prst="rect">
            <a:avLst/>
          </a:prstGeom>
          <a:solidFill>
            <a:srgbClr val="D0271D"/>
          </a:solidFill>
          <a:ln w="12700">
            <a:solidFill>
              <a:srgbClr val="D0271D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669280" y="4005072"/>
            <a:ext cx="1508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integration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7296912" y="987552"/>
            <a:ext cx="1645920" cy="658368"/>
          </a:xfrm>
          <a:prstGeom prst="rect">
            <a:avLst/>
          </a:prstGeom>
          <a:solidFill>
            <a:srgbClr val="6F42C1"/>
          </a:solidFill>
          <a:ln w="12700">
            <a:solidFill>
              <a:srgbClr val="6F42C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70" name="Text 68"/>
          <p:cNvSpPr/>
          <p:nvPr/>
        </p:nvSpPr>
        <p:spPr>
          <a:xfrm>
            <a:off x="7296912" y="98755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4</a:t>
            </a:r>
            <a:endParaRPr lang="en-US" sz="1100" dirty="0"/>
          </a:p>
        </p:txBody>
      </p:sp>
      <p:sp>
        <p:nvSpPr>
          <p:cNvPr id="71" name="Text 69"/>
          <p:cNvSpPr/>
          <p:nvPr/>
        </p:nvSpPr>
        <p:spPr>
          <a:xfrm>
            <a:off x="7296912" y="131673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01/08 – 30/09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7296912" y="1755648"/>
            <a:ext cx="1645920" cy="658368"/>
          </a:xfrm>
          <a:prstGeom prst="rect">
            <a:avLst/>
          </a:prstGeom>
          <a:solidFill>
            <a:srgbClr val="F8F9FA"/>
          </a:solidFill>
          <a:ln w="7620">
            <a:solidFill>
              <a:srgbClr val="000000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7296912" y="1755648"/>
            <a:ext cx="54864" cy="658368"/>
          </a:xfrm>
          <a:prstGeom prst="rect">
            <a:avLst/>
          </a:prstGeom>
          <a:solidFill>
            <a:srgbClr val="6F42C1"/>
          </a:solidFill>
          <a:ln w="12700">
            <a:solidFill>
              <a:srgbClr val="6F42C1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406640" y="1755648"/>
            <a:ext cx="1508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dashboard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7296912" y="2505456"/>
            <a:ext cx="1645920" cy="658368"/>
          </a:xfrm>
          <a:prstGeom prst="rect">
            <a:avLst/>
          </a:prstGeom>
          <a:solidFill>
            <a:srgbClr val="F8F9FA"/>
          </a:solidFill>
          <a:ln w="7620">
            <a:solidFill>
              <a:srgbClr val="000000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7296912" y="2505456"/>
            <a:ext cx="54864" cy="658368"/>
          </a:xfrm>
          <a:prstGeom prst="rect">
            <a:avLst/>
          </a:prstGeom>
          <a:solidFill>
            <a:srgbClr val="6F42C1"/>
          </a:solidFill>
          <a:ln w="12700">
            <a:solidFill>
              <a:srgbClr val="6F42C1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7406640" y="2505456"/>
            <a:ext cx="1508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portal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7296912" y="3255264"/>
            <a:ext cx="1645920" cy="658368"/>
          </a:xfrm>
          <a:prstGeom prst="rect">
            <a:avLst/>
          </a:prstGeom>
          <a:solidFill>
            <a:srgbClr val="F8F9FA"/>
          </a:solidFill>
          <a:ln w="7620">
            <a:solidFill>
              <a:srgbClr val="000000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7296912" y="3255264"/>
            <a:ext cx="54864" cy="658368"/>
          </a:xfrm>
          <a:prstGeom prst="rect">
            <a:avLst/>
          </a:prstGeom>
          <a:solidFill>
            <a:srgbClr val="6F42C1"/>
          </a:solidFill>
          <a:ln w="12700">
            <a:solidFill>
              <a:srgbClr val="6F42C1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7406640" y="3255264"/>
            <a:ext cx="1508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config</a:t>
            </a:r>
            <a:endParaRPr lang="en-US" sz="900" dirty="0"/>
          </a:p>
        </p:txBody>
      </p:sp>
      <p:sp>
        <p:nvSpPr>
          <p:cNvPr id="81" name="Shape 79"/>
          <p:cNvSpPr/>
          <p:nvPr/>
        </p:nvSpPr>
        <p:spPr>
          <a:xfrm>
            <a:off x="7296912" y="4005072"/>
            <a:ext cx="1645920" cy="658368"/>
          </a:xfrm>
          <a:prstGeom prst="rect">
            <a:avLst/>
          </a:prstGeom>
          <a:solidFill>
            <a:srgbClr val="F8F9FA"/>
          </a:solidFill>
          <a:ln w="7620">
            <a:solidFill>
              <a:srgbClr val="000000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7296912" y="4005072"/>
            <a:ext cx="54864" cy="658368"/>
          </a:xfrm>
          <a:prstGeom prst="rect">
            <a:avLst/>
          </a:prstGeom>
          <a:solidFill>
            <a:srgbClr val="6F42C1"/>
          </a:solidFill>
          <a:ln w="12700">
            <a:solidFill>
              <a:srgbClr val="6F42C1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7406640" y="4005072"/>
            <a:ext cx="1508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GitHub deploy</a:t>
            </a:r>
            <a:endParaRPr lang="en-US" sz="900" dirty="0"/>
          </a:p>
        </p:txBody>
      </p:sp>
      <p:sp>
        <p:nvSpPr>
          <p:cNvPr id="84" name="Text 82"/>
          <p:cNvSpPr/>
          <p:nvPr/>
        </p:nvSpPr>
        <p:spPr>
          <a:xfrm>
            <a:off x="8503920" y="486460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C757D"/>
                </a:solidFill>
              </a:rPr>
              <a:t>19 / 25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D0271D"/>
          </a:solidFill>
          <a:ln w="12700">
            <a:solidFill>
              <a:srgbClr val="D0271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Validation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960120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Multi-level testing strategy applied across all sprints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47472" y="987552"/>
            <a:ext cx="2011680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47472" y="987552"/>
            <a:ext cx="2011680" cy="54864"/>
          </a:xfrm>
          <a:prstGeom prst="rect">
            <a:avLst/>
          </a:prstGeom>
          <a:solidFill>
            <a:srgbClr val="198754"/>
          </a:solidFill>
          <a:ln w="12700">
            <a:solidFill>
              <a:srgbClr val="19875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1124712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98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10/10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47472" y="167335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Endpoints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496312" y="987552"/>
            <a:ext cx="2011680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96312" y="987552"/>
            <a:ext cx="2011680" cy="54864"/>
          </a:xfrm>
          <a:prstGeom prst="rect">
            <a:avLst/>
          </a:prstGeom>
          <a:solidFill>
            <a:srgbClr val="0D6EFD"/>
          </a:solidFill>
          <a:ln w="12700">
            <a:solidFill>
              <a:srgbClr val="0D6EF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96312" y="1124712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D6E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12/12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2496312" y="167335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Scenarios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645152" y="987552"/>
            <a:ext cx="2011680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45152" y="987552"/>
            <a:ext cx="201168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45152" y="1124712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4645152" y="167335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Errors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793992" y="987552"/>
            <a:ext cx="2011680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793992" y="987552"/>
            <a:ext cx="2011680" cy="54864"/>
          </a:xfrm>
          <a:prstGeom prst="rect">
            <a:avLst/>
          </a:prstGeom>
          <a:solidFill>
            <a:srgbClr val="6F42C1"/>
          </a:solidFill>
          <a:ln w="12700">
            <a:solidFill>
              <a:srgbClr val="6F42C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93992" y="1124712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6F42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8/8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6793992" y="167335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Tests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47472" y="221284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API Test Results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47472" y="2542032"/>
            <a:ext cx="4206240" cy="365760"/>
          </a:xfrm>
          <a:prstGeom prst="rect">
            <a:avLst/>
          </a:prstGeom>
          <a:solidFill>
            <a:srgbClr val="F8F9FA"/>
          </a:solidFill>
          <a:ln w="3810">
            <a:solidFill>
              <a:srgbClr val="E9ECE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254203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valid credentials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218688" y="2542032"/>
            <a:ext cx="804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+ JWT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041648" y="2542032"/>
            <a:ext cx="512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✅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47472" y="2926080"/>
            <a:ext cx="420624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E9ECE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29260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wrong password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218688" y="2926080"/>
            <a:ext cx="804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401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041648" y="2926080"/>
            <a:ext cx="512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✅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47472" y="3310128"/>
            <a:ext cx="4206240" cy="365760"/>
          </a:xfrm>
          <a:prstGeom prst="rect">
            <a:avLst/>
          </a:prstGeom>
          <a:solidFill>
            <a:srgbClr val="F8F9FA"/>
          </a:solidFill>
          <a:ln w="3810">
            <a:solidFill>
              <a:srgbClr val="E9ECE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331012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employees (no token)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218688" y="3310128"/>
            <a:ext cx="804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403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041648" y="3310128"/>
            <a:ext cx="512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✅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47472" y="3694176"/>
            <a:ext cx="420624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E9ECE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369417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employee (manager)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218688" y="3694176"/>
            <a:ext cx="804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403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041648" y="3694176"/>
            <a:ext cx="512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✅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347472" y="4078224"/>
            <a:ext cx="4206240" cy="365760"/>
          </a:xfrm>
          <a:prstGeom prst="rect">
            <a:avLst/>
          </a:prstGeom>
          <a:solidFill>
            <a:srgbClr val="F8F9FA"/>
          </a:solidFill>
          <a:ln w="3810">
            <a:solidFill>
              <a:srgbClr val="E9ECE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407822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job position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3218688" y="4078224"/>
            <a:ext cx="804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041648" y="4078224"/>
            <a:ext cx="512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✅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347472" y="4462272"/>
            <a:ext cx="420624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E9ECE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7200" y="446227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with CV (public)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3218688" y="4462272"/>
            <a:ext cx="804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041648" y="4462272"/>
            <a:ext cx="512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✅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4773168" y="221284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Functional Scenarios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4773168" y="2542032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98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</a:t>
            </a:r>
            <a:pPr indent="0" marL="0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+ role-based redirection (3 roles)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4773168" y="2889504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98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</a:t>
            </a:r>
            <a:pPr indent="0" marL="0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create + activation email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4773168" y="323697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98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</a:t>
            </a:r>
            <a:pPr indent="0" marL="0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 chart collapse/expand nodes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4773168" y="358444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98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</a:t>
            </a:r>
            <a:pPr indent="0" marL="0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request full approval cycle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4773168" y="3931920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98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</a:t>
            </a:r>
            <a:pPr indent="0" marL="0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 advance full review cycle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4773168" y="4279392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98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</a:t>
            </a:r>
            <a:pPr indent="0" marL="0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job → visible on /careers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4773168" y="4626864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98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</a:t>
            </a:r>
            <a:pPr indent="0" marL="0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with CV → stored in database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4773168" y="497433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98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</a:t>
            </a:r>
            <a:pPr indent="0" marL="0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CV screening score displayed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4773168" y="532180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98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</a:t>
            </a:r>
            <a:pPr indent="0" marL="0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AI HR report successfully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4773168" y="5669280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98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</a:t>
            </a:r>
            <a:pPr indent="0" marL="0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branding config propagates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4773168" y="6016752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98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</a:t>
            </a:r>
            <a:pPr indent="0" marL="0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test runner: 8/8 PASS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4773168" y="6364224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98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</a:t>
            </a:r>
            <a:pPr indent="0" marL="0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TypeScript: 0 compilation errors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8503920" y="486460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C757D"/>
                </a:solidFill>
              </a:rPr>
              <a:t>20 / 25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D0271D"/>
          </a:solidFill>
          <a:ln w="12700">
            <a:solidFill>
              <a:srgbClr val="D0271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— What Was Delivered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47472" y="987552"/>
            <a:ext cx="2743200" cy="2743200"/>
          </a:xfrm>
          <a:prstGeom prst="rect">
            <a:avLst/>
          </a:prstGeom>
          <a:solidFill>
            <a:srgbClr val="252545"/>
          </a:solidFill>
          <a:ln w="8890">
            <a:solidFill>
              <a:srgbClr val="3A3A5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7472" y="987552"/>
            <a:ext cx="2743200" cy="73152"/>
          </a:xfrm>
          <a:prstGeom prst="rect">
            <a:avLst/>
          </a:prstGeom>
          <a:solidFill>
            <a:srgbClr val="D0271D"/>
          </a:solidFill>
          <a:ln w="12700">
            <a:solidFill>
              <a:srgbClr val="D0271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78992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 Platform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463040"/>
            <a:ext cx="2514600" cy="0"/>
          </a:xfrm>
          <a:prstGeom prst="line">
            <a:avLst/>
          </a:prstGeom>
          <a:noFill/>
          <a:ln w="6350">
            <a:solidFill>
              <a:srgbClr val="3A3A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572768"/>
            <a:ext cx="2514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027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3 + Angular 17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7200" y="2048256"/>
            <a:ext cx="2514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027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+ 3-Level RBAC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2523744"/>
            <a:ext cx="2514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027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+ Hibernate DDL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57200" y="2999232"/>
            <a:ext cx="2514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027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RESTful stateless API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27832" y="987552"/>
            <a:ext cx="2743200" cy="2743200"/>
          </a:xfrm>
          <a:prstGeom prst="rect">
            <a:avLst/>
          </a:prstGeom>
          <a:solidFill>
            <a:srgbClr val="252545"/>
          </a:solidFill>
          <a:ln w="8890">
            <a:solidFill>
              <a:srgbClr val="3A3A5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27832" y="987552"/>
            <a:ext cx="27432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37560" y="1078992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Modules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337560" y="1463040"/>
            <a:ext cx="2514600" cy="0"/>
          </a:xfrm>
          <a:prstGeom prst="line">
            <a:avLst/>
          </a:prstGeom>
          <a:noFill/>
          <a:ln w="6350">
            <a:solidFill>
              <a:srgbClr val="3A3A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37560" y="1572768"/>
            <a:ext cx="2514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10+ functional HR modules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337560" y="2048256"/>
            <a:ext cx="2514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recruitment pipeline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337560" y="2523744"/>
            <a:ext cx="2514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Collapsible org chart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337560" y="2999232"/>
            <a:ext cx="2514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config system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108192" y="987552"/>
            <a:ext cx="2743200" cy="2743200"/>
          </a:xfrm>
          <a:prstGeom prst="rect">
            <a:avLst/>
          </a:prstGeom>
          <a:solidFill>
            <a:srgbClr val="252545"/>
          </a:solidFill>
          <a:ln w="8890">
            <a:solidFill>
              <a:srgbClr val="3A3A5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108192" y="987552"/>
            <a:ext cx="2743200" cy="73152"/>
          </a:xfrm>
          <a:prstGeom prst="rect">
            <a:avLst/>
          </a:prstGeom>
          <a:solidFill>
            <a:srgbClr val="6F42C1"/>
          </a:solidFill>
          <a:ln w="12700">
            <a:solidFill>
              <a:srgbClr val="6F42C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17920" y="1078992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AI Features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217920" y="1463040"/>
            <a:ext cx="2514600" cy="0"/>
          </a:xfrm>
          <a:prstGeom prst="line">
            <a:avLst/>
          </a:prstGeom>
          <a:noFill/>
          <a:ln w="6350">
            <a:solidFill>
              <a:srgbClr val="3A3A5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17920" y="1572768"/>
            <a:ext cx="2514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F42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 HR report generation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217920" y="2048256"/>
            <a:ext cx="2514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F42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CV screening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217920" y="2523744"/>
            <a:ext cx="2514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F42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score 0–100 badge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217920" y="2999232"/>
            <a:ext cx="2514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F42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Workforce metrics aggregation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47472" y="3858768"/>
            <a:ext cx="8449056" cy="804672"/>
          </a:xfrm>
          <a:prstGeom prst="rect">
            <a:avLst/>
          </a:prstGeom>
          <a:solidFill>
            <a:srgbClr val="252545"/>
          </a:solidFill>
          <a:ln w="12700">
            <a:solidFill>
              <a:srgbClr val="D0271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3931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 github.com/amine2zz/ADP  ·  6-month internship  ·  ADP ES Tunisie  ·  April – September 2026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57200" y="4242816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platform  ·  10+ modules  ·  AI integrated  ·  Deployed on GitHub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503920" y="486460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C757D"/>
                </a:solidFill>
              </a:rPr>
              <a:t>21 / 25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D0271D"/>
          </a:solidFill>
          <a:ln w="12700">
            <a:solidFill>
              <a:srgbClr val="D0271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Perspectives &amp; Roadmap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960120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comes next for Nexus HCM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47472" y="1005840"/>
            <a:ext cx="2816352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9525">
            <a:solidFill>
              <a:srgbClr val="E9ECE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47472" y="1005840"/>
            <a:ext cx="2816352" cy="64008"/>
          </a:xfrm>
          <a:prstGeom prst="rect">
            <a:avLst/>
          </a:prstGeom>
          <a:solidFill>
            <a:srgbClr val="198754"/>
          </a:solidFill>
          <a:ln w="12700">
            <a:solidFill>
              <a:srgbClr val="19875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43000"/>
            <a:ext cx="438912" cy="438912"/>
          </a:xfrm>
          <a:prstGeom prst="ellipse">
            <a:avLst/>
          </a:prstGeom>
          <a:solidFill>
            <a:srgbClr val="000000"/>
          </a:solidFill>
          <a:ln w="7620">
            <a:solidFill>
              <a:srgbClr val="0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1430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💰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87552" y="1170432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Payroll Module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57200" y="1664208"/>
            <a:ext cx="25968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payroll calculation based on attendance records, leave deductions, and configured salary parameters.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91840" y="1005840"/>
            <a:ext cx="2816352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9525">
            <a:solidFill>
              <a:srgbClr val="E9ECE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91840" y="1005840"/>
            <a:ext cx="2816352" cy="64008"/>
          </a:xfrm>
          <a:prstGeom prst="rect">
            <a:avLst/>
          </a:prstGeom>
          <a:solidFill>
            <a:srgbClr val="0D6EFD"/>
          </a:solidFill>
          <a:ln w="12700">
            <a:solidFill>
              <a:srgbClr val="0D6EF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01568" y="1143000"/>
            <a:ext cx="438912" cy="438912"/>
          </a:xfrm>
          <a:prstGeom prst="ellipse">
            <a:avLst/>
          </a:prstGeom>
          <a:solidFill>
            <a:srgbClr val="000000"/>
          </a:solidFill>
          <a:ln w="7620">
            <a:solidFill>
              <a:srgbClr val="0000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01568" y="11430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📱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931920" y="1170432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Application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401568" y="1664208"/>
            <a:ext cx="25968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companion app for employee clock-in/out, leave requests, and push notifications on iOS/Android.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236208" y="1005840"/>
            <a:ext cx="2816352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9525">
            <a:solidFill>
              <a:srgbClr val="E9ECE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36208" y="1005840"/>
            <a:ext cx="2816352" cy="64008"/>
          </a:xfrm>
          <a:prstGeom prst="rect">
            <a:avLst/>
          </a:prstGeom>
          <a:solidFill>
            <a:srgbClr val="6F42C1"/>
          </a:solidFill>
          <a:ln w="12700">
            <a:solidFill>
              <a:srgbClr val="6F42C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45936" y="1143000"/>
            <a:ext cx="438912" cy="438912"/>
          </a:xfrm>
          <a:prstGeom prst="ellipse">
            <a:avLst/>
          </a:prstGeom>
          <a:solidFill>
            <a:srgbClr val="000000"/>
          </a:solidFill>
          <a:ln w="7620">
            <a:solidFill>
              <a:srgbClr val="0000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45936" y="11430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📈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876288" y="1170432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Analytics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345936" y="1664208"/>
            <a:ext cx="25968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Chart-based workforce dashboards (Chart.js/ECharts) with live KPIs, trend analysis, and exportable reports.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47472" y="2926080"/>
            <a:ext cx="2816352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9525">
            <a:solidFill>
              <a:srgbClr val="E9ECE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47472" y="2926080"/>
            <a:ext cx="2816352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3063240"/>
            <a:ext cx="438912" cy="438912"/>
          </a:xfrm>
          <a:prstGeom prst="ellipse">
            <a:avLst/>
          </a:prstGeom>
          <a:solidFill>
            <a:srgbClr val="000000"/>
          </a:solidFill>
          <a:ln w="7620">
            <a:solidFill>
              <a:srgbClr val="0000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30632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☁️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987552" y="3090672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Deployment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57200" y="3584448"/>
            <a:ext cx="25968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containerization + deployment on AWS/Azure for production availability and horizontal scalability.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291840" y="2926080"/>
            <a:ext cx="2816352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9525">
            <a:solidFill>
              <a:srgbClr val="E9ECE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291840" y="2926080"/>
            <a:ext cx="2816352" cy="64008"/>
          </a:xfrm>
          <a:prstGeom prst="rect">
            <a:avLst/>
          </a:prstGeom>
          <a:solidFill>
            <a:srgbClr val="D0271D"/>
          </a:solidFill>
          <a:ln w="12700">
            <a:solidFill>
              <a:srgbClr val="D0271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401568" y="3063240"/>
            <a:ext cx="438912" cy="438912"/>
          </a:xfrm>
          <a:prstGeom prst="ellipse">
            <a:avLst/>
          </a:prstGeom>
          <a:solidFill>
            <a:srgbClr val="000000"/>
          </a:solidFill>
          <a:ln w="7620">
            <a:solidFill>
              <a:srgbClr val="0000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401568" y="30632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🧠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3931920" y="3090672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AI Features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3401568" y="3584448"/>
            <a:ext cx="25968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churn prediction, skill gap analysis, automated performance coaching suggestions using ML models.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236208" y="2926080"/>
            <a:ext cx="2816352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9525">
            <a:solidFill>
              <a:srgbClr val="E9ECE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236208" y="2926080"/>
            <a:ext cx="2816352" cy="64008"/>
          </a:xfrm>
          <a:prstGeom prst="rect">
            <a:avLst/>
          </a:prstGeom>
          <a:solidFill>
            <a:srgbClr val="FD7E14"/>
          </a:solidFill>
          <a:ln w="12700">
            <a:solidFill>
              <a:srgbClr val="FD7E14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345936" y="3063240"/>
            <a:ext cx="438912" cy="438912"/>
          </a:xfrm>
          <a:prstGeom prst="ellipse">
            <a:avLst/>
          </a:prstGeom>
          <a:solidFill>
            <a:srgbClr val="000000"/>
          </a:solidFill>
          <a:ln w="7620">
            <a:solidFill>
              <a:srgbClr val="00000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345936" y="30632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🔔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6876288" y="3090672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Notifications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6345936" y="3584448"/>
            <a:ext cx="25968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in-app and email alerts for approvals, rejections, contract renewals, and HR broadcast messages.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8503920" y="486460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C757D"/>
                </a:solidFill>
              </a:rPr>
              <a:t>22 / 25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D0271D"/>
          </a:solidFill>
          <a:ln w="12700">
            <a:solidFill>
              <a:srgbClr val="D0271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960120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walkthrough — localhost:4200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47472" y="1005840"/>
            <a:ext cx="4114800" cy="1920240"/>
          </a:xfrm>
          <a:prstGeom prst="rect">
            <a:avLst/>
          </a:prstGeom>
          <a:solidFill>
            <a:srgbClr val="F1F3F5"/>
          </a:solidFill>
          <a:ln w="12700">
            <a:solidFill>
              <a:srgbClr val="E9ECEF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347472" y="1801368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Login Page — Role Redirection ]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681728" y="1005840"/>
            <a:ext cx="4114800" cy="1920240"/>
          </a:xfrm>
          <a:prstGeom prst="rect">
            <a:avLst/>
          </a:prstGeom>
          <a:solidFill>
            <a:srgbClr val="F1F3F5"/>
          </a:solidFill>
          <a:ln w="12700">
            <a:solidFill>
              <a:srgbClr val="E9ECEF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4681728" y="1801368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HR Admin Dashboard Overview ]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47472" y="3017520"/>
            <a:ext cx="4114800" cy="1920240"/>
          </a:xfrm>
          <a:prstGeom prst="rect">
            <a:avLst/>
          </a:prstGeom>
          <a:solidFill>
            <a:srgbClr val="F1F3F5"/>
          </a:solidFill>
          <a:ln w="12700">
            <a:solidFill>
              <a:srgbClr val="E9ECEF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347472" y="3813048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Org Chart — Collapse / Expand ]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681728" y="3017520"/>
            <a:ext cx="4114800" cy="1920240"/>
          </a:xfrm>
          <a:prstGeom prst="rect">
            <a:avLst/>
          </a:prstGeom>
          <a:solidFill>
            <a:srgbClr val="F1F3F5"/>
          </a:solidFill>
          <a:ln w="12700">
            <a:solidFill>
              <a:srgbClr val="E9ECEF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4681728" y="3813048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Careers Page + AI Score Badge ]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47472" y="4919472"/>
            <a:ext cx="8449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running on port 8085  ·  Angular on port 4200  ·  MySQL via XAMPP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503920" y="486460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C757D"/>
                </a:solidFill>
              </a:rPr>
              <a:t>23 / 25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D0271D"/>
          </a:solidFill>
          <a:ln w="12700">
            <a:solidFill>
              <a:srgbClr val="D0271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Summary at a Glance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987552"/>
            <a:ext cx="260604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9525">
            <a:solidFill>
              <a:srgbClr val="E9ECE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987552"/>
            <a:ext cx="2606040" cy="73152"/>
          </a:xfrm>
          <a:prstGeom prst="rect">
            <a:avLst/>
          </a:prstGeom>
          <a:solidFill>
            <a:srgbClr val="D0271D"/>
          </a:solidFill>
          <a:ln w="12700">
            <a:solidFill>
              <a:srgbClr val="D0271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152144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D027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548640" y="2011680"/>
            <a:ext cx="2606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of Development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83280" y="987552"/>
            <a:ext cx="260604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9525">
            <a:solidFill>
              <a:srgbClr val="E9ECE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83280" y="987552"/>
            <a:ext cx="2606040" cy="73152"/>
          </a:xfrm>
          <a:prstGeom prst="rect">
            <a:avLst/>
          </a:prstGeom>
          <a:solidFill>
            <a:srgbClr val="0D6EFD"/>
          </a:solidFill>
          <a:ln w="12700">
            <a:solidFill>
              <a:srgbClr val="0D6EF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83280" y="1152144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D6E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3383280" y="2011680"/>
            <a:ext cx="2606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 Sprints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17920" y="987552"/>
            <a:ext cx="260604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9525">
            <a:solidFill>
              <a:srgbClr val="E9ECE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17920" y="987552"/>
            <a:ext cx="260604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0" y="1152144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10+</a:t>
            </a:r>
            <a:endParaRPr lang="en-US" sz="4200" dirty="0"/>
          </a:p>
        </p:txBody>
      </p:sp>
      <p:sp>
        <p:nvSpPr>
          <p:cNvPr id="16" name="Text 14"/>
          <p:cNvSpPr/>
          <p:nvPr/>
        </p:nvSpPr>
        <p:spPr>
          <a:xfrm>
            <a:off x="6217920" y="2011680"/>
            <a:ext cx="2606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Modules Delivered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2907792"/>
            <a:ext cx="260604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9525">
            <a:solidFill>
              <a:srgbClr val="E9ECE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48640" y="2907792"/>
            <a:ext cx="2606040" cy="73152"/>
          </a:xfrm>
          <a:prstGeom prst="rect">
            <a:avLst/>
          </a:prstGeom>
          <a:solidFill>
            <a:srgbClr val="6F42C1"/>
          </a:solidFill>
          <a:ln w="12700">
            <a:solidFill>
              <a:srgbClr val="6F42C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072384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6F42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4200" dirty="0"/>
          </a:p>
        </p:txBody>
      </p:sp>
      <p:sp>
        <p:nvSpPr>
          <p:cNvPr id="20" name="Text 18"/>
          <p:cNvSpPr/>
          <p:nvPr/>
        </p:nvSpPr>
        <p:spPr>
          <a:xfrm>
            <a:off x="548640" y="3931920"/>
            <a:ext cx="2606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JPA Entities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383280" y="2907792"/>
            <a:ext cx="260604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9525">
            <a:solidFill>
              <a:srgbClr val="E9ECE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383280" y="2907792"/>
            <a:ext cx="2606040" cy="73152"/>
          </a:xfrm>
          <a:prstGeom prst="rect">
            <a:avLst/>
          </a:prstGeom>
          <a:solidFill>
            <a:srgbClr val="FD7E14"/>
          </a:solidFill>
          <a:ln w="12700">
            <a:solidFill>
              <a:srgbClr val="FD7E1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83280" y="3072384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D7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4200" dirty="0"/>
          </a:p>
        </p:txBody>
      </p:sp>
      <p:sp>
        <p:nvSpPr>
          <p:cNvPr id="24" name="Text 22"/>
          <p:cNvSpPr/>
          <p:nvPr/>
        </p:nvSpPr>
        <p:spPr>
          <a:xfrm>
            <a:off x="3383280" y="3931920"/>
            <a:ext cx="2606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Endpoints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217920" y="2907792"/>
            <a:ext cx="260604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9525">
            <a:solidFill>
              <a:srgbClr val="E9ECE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217920" y="2907792"/>
            <a:ext cx="2606040" cy="73152"/>
          </a:xfrm>
          <a:prstGeom prst="rect">
            <a:avLst/>
          </a:prstGeom>
          <a:solidFill>
            <a:srgbClr val="198754"/>
          </a:solidFill>
          <a:ln w="12700">
            <a:solidFill>
              <a:srgbClr val="19875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17920" y="3072384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198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4200" dirty="0"/>
          </a:p>
        </p:txBody>
      </p:sp>
      <p:sp>
        <p:nvSpPr>
          <p:cNvPr id="28" name="Text 26"/>
          <p:cNvSpPr/>
          <p:nvPr/>
        </p:nvSpPr>
        <p:spPr>
          <a:xfrm>
            <a:off x="6217920" y="3931920"/>
            <a:ext cx="2606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Features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503920" y="486460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C757D"/>
                </a:solidFill>
              </a:rPr>
              <a:t>24 / 25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0"/>
            <a:ext cx="2011680" cy="5143500"/>
          </a:xfrm>
          <a:prstGeom prst="rect">
            <a:avLst/>
          </a:prstGeom>
          <a:solidFill>
            <a:srgbClr val="252545"/>
          </a:solidFill>
          <a:ln w="12700">
            <a:solidFill>
              <a:srgbClr val="2525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0"/>
            <a:ext cx="54864" cy="5143500"/>
          </a:xfrm>
          <a:prstGeom prst="rect">
            <a:avLst/>
          </a:prstGeom>
          <a:solidFill>
            <a:srgbClr val="D0271D"/>
          </a:solidFill>
          <a:ln w="12700">
            <a:solidFill>
              <a:srgbClr val="D0271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2296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5" name="Shape 3"/>
          <p:cNvSpPr/>
          <p:nvPr/>
        </p:nvSpPr>
        <p:spPr>
          <a:xfrm>
            <a:off x="457200" y="1993392"/>
            <a:ext cx="4114800" cy="0"/>
          </a:xfrm>
          <a:prstGeom prst="line">
            <a:avLst/>
          </a:prstGeom>
          <a:noFill/>
          <a:ln w="38100">
            <a:solidFill>
              <a:srgbClr val="D0271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121408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Answers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2788920"/>
            <a:ext cx="1993392" cy="1051560"/>
          </a:xfrm>
          <a:prstGeom prst="rect">
            <a:avLst/>
          </a:prstGeom>
          <a:solidFill>
            <a:srgbClr val="252545"/>
          </a:solidFill>
          <a:ln w="7620">
            <a:solidFill>
              <a:srgbClr val="3A3A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834640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027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3127248"/>
            <a:ext cx="19933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GHARIANI Mohamed Amine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SAE  ·  ESPRIT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578608" y="2788920"/>
            <a:ext cx="1993392" cy="1051560"/>
          </a:xfrm>
          <a:prstGeom prst="rect">
            <a:avLst/>
          </a:prstGeom>
          <a:solidFill>
            <a:srgbClr val="252545"/>
          </a:solidFill>
          <a:ln w="7620">
            <a:solidFill>
              <a:srgbClr val="3A3A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78608" y="2834640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027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578608" y="3127248"/>
            <a:ext cx="19933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ADP ES Tunisie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 Fraj Sayed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00016" y="2788920"/>
            <a:ext cx="1993392" cy="1051560"/>
          </a:xfrm>
          <a:prstGeom prst="rect">
            <a:avLst/>
          </a:prstGeom>
          <a:solidFill>
            <a:srgbClr val="252545"/>
          </a:solidFill>
          <a:ln w="7620">
            <a:solidFill>
              <a:srgbClr val="3A3A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00016" y="2834640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027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700016" y="3127248"/>
            <a:ext cx="19933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– September 2026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months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977640"/>
            <a:ext cx="3200400" cy="457200"/>
          </a:xfrm>
          <a:prstGeom prst="rect">
            <a:avLst/>
          </a:prstGeom>
          <a:solidFill>
            <a:srgbClr val="24292F"/>
          </a:solidFill>
          <a:ln w="6350">
            <a:solidFill>
              <a:srgbClr val="3A3A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9776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 github.com/amine2zz/ADP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484632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5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 HCM — Intelligent Human Capital Management System  ·  2025–2026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503920" y="486460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C757D"/>
                </a:solidFill>
              </a:rPr>
              <a:t>25 / 25</a:t>
            </a:r>
            <a:endParaRPr lang="en-US" sz="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D0271D"/>
          </a:solidFill>
          <a:ln w="12700">
            <a:solidFill>
              <a:srgbClr val="D0271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Actors &amp; Key Requirements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960120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user roles and the cross-cutting requirements that shape the platform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47472" y="914400"/>
            <a:ext cx="8449056" cy="621792"/>
          </a:xfrm>
          <a:prstGeom prst="rect">
            <a:avLst/>
          </a:prstGeom>
          <a:solidFill>
            <a:srgbClr val="F8D7DA"/>
          </a:solidFill>
          <a:ln w="12700">
            <a:solidFill>
              <a:srgbClr val="F5C2C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7472" y="914400"/>
            <a:ext cx="73152" cy="621792"/>
          </a:xfrm>
          <a:prstGeom prst="rect">
            <a:avLst/>
          </a:prstGeom>
          <a:solidFill>
            <a:srgbClr val="D0271D"/>
          </a:solidFill>
          <a:ln w="12700">
            <a:solidFill>
              <a:srgbClr val="D0271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960120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internal roles (HR Admin, Manager, Employee) operate under JWT-based RBAC, while a fourth actor — the Candidate — interacts with the system anonymously through the public Careers portal.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47472" y="1719072"/>
            <a:ext cx="2724912" cy="1353312"/>
          </a:xfrm>
          <a:prstGeom prst="rect">
            <a:avLst/>
          </a:prstGeom>
          <a:solidFill>
            <a:srgbClr val="FFFFFF"/>
          </a:solidFill>
          <a:ln w="9525">
            <a:solidFill>
              <a:srgbClr val="E9ECE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7472" y="1719072"/>
            <a:ext cx="2724912" cy="64008"/>
          </a:xfrm>
          <a:prstGeom prst="rect">
            <a:avLst/>
          </a:prstGeom>
          <a:solidFill>
            <a:srgbClr val="D0271D"/>
          </a:solidFill>
          <a:ln w="12700">
            <a:solidFill>
              <a:srgbClr val="D0271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👑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941832" y="18288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Administrator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38912" y="2221992"/>
            <a:ext cx="2514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lifecycle management: employees, departments, approvals, AI-generated reports, and live system configuration.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182112" y="1719072"/>
            <a:ext cx="2724912" cy="1353312"/>
          </a:xfrm>
          <a:prstGeom prst="rect">
            <a:avLst/>
          </a:prstGeom>
          <a:solidFill>
            <a:srgbClr val="FFFFFF"/>
          </a:solidFill>
          <a:ln w="9525">
            <a:solidFill>
              <a:srgbClr val="E9ECE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182112" y="1719072"/>
            <a:ext cx="2724912" cy="64008"/>
          </a:xfrm>
          <a:prstGeom prst="rect">
            <a:avLst/>
          </a:prstGeom>
          <a:solidFill>
            <a:srgbClr val="FD7E14"/>
          </a:solidFill>
          <a:ln w="12700">
            <a:solidFill>
              <a:srgbClr val="FD7E1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73552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👔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3776472" y="18288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273552" y="2221992"/>
            <a:ext cx="2514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Supervises direct reports: approves leave and salary advances, tracks attendance, and runs performance evaluations.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016752" y="1719072"/>
            <a:ext cx="2724912" cy="1353312"/>
          </a:xfrm>
          <a:prstGeom prst="rect">
            <a:avLst/>
          </a:prstGeom>
          <a:solidFill>
            <a:srgbClr val="FFFFFF"/>
          </a:solidFill>
          <a:ln w="9525">
            <a:solidFill>
              <a:srgbClr val="E9ECE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16752" y="1719072"/>
            <a:ext cx="2724912" cy="64008"/>
          </a:xfrm>
          <a:prstGeom prst="rect">
            <a:avLst/>
          </a:prstGeom>
          <a:solidFill>
            <a:srgbClr val="6F42C1"/>
          </a:solidFill>
          <a:ln w="12700">
            <a:solidFill>
              <a:srgbClr val="6F42C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08192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👤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611112" y="18288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108192" y="2221992"/>
            <a:ext cx="2514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Self-service portal: manage profile, request leave or salary advances, clock in/out, and view performance results.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47472" y="3182112"/>
            <a:ext cx="2724912" cy="1353312"/>
          </a:xfrm>
          <a:prstGeom prst="rect">
            <a:avLst/>
          </a:prstGeom>
          <a:solidFill>
            <a:srgbClr val="FFFFFF"/>
          </a:solidFill>
          <a:ln w="9525">
            <a:solidFill>
              <a:srgbClr val="E9ECE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47472" y="3182112"/>
            <a:ext cx="2724912" cy="64008"/>
          </a:xfrm>
          <a:prstGeom prst="rect">
            <a:avLst/>
          </a:prstGeom>
          <a:solidFill>
            <a:srgbClr val="D0271D"/>
          </a:solidFill>
          <a:ln w="12700">
            <a:solidFill>
              <a:srgbClr val="D0271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8912" y="3291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🌐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941832" y="32918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/ Public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38912" y="3685032"/>
            <a:ext cx="2514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Browses open positions on the Careers page and submits applications with CV upload — no account or login required.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182112" y="3182112"/>
            <a:ext cx="2724912" cy="1353312"/>
          </a:xfrm>
          <a:prstGeom prst="rect">
            <a:avLst/>
          </a:prstGeom>
          <a:solidFill>
            <a:srgbClr val="FFFFFF"/>
          </a:solidFill>
          <a:ln w="9525">
            <a:solidFill>
              <a:srgbClr val="E9ECE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182112" y="3182112"/>
            <a:ext cx="2724912" cy="64008"/>
          </a:xfrm>
          <a:prstGeom prst="rect">
            <a:avLst/>
          </a:prstGeom>
          <a:solidFill>
            <a:srgbClr val="FD7E14"/>
          </a:solidFill>
          <a:ln w="12700">
            <a:solidFill>
              <a:srgbClr val="FD7E1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73552" y="3291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🔒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3776472" y="32918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Access Control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3273552" y="3685032"/>
            <a:ext cx="2514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authentication, BCrypt password hashing, and RBAC enforced at both controller and routing level.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016752" y="3182112"/>
            <a:ext cx="2724912" cy="1353312"/>
          </a:xfrm>
          <a:prstGeom prst="rect">
            <a:avLst/>
          </a:prstGeom>
          <a:solidFill>
            <a:srgbClr val="FFFFFF"/>
          </a:solidFill>
          <a:ln w="9525">
            <a:solidFill>
              <a:srgbClr val="E9ECE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016752" y="3182112"/>
            <a:ext cx="2724912" cy="64008"/>
          </a:xfrm>
          <a:prstGeom prst="rect">
            <a:avLst/>
          </a:prstGeom>
          <a:solidFill>
            <a:srgbClr val="6F42C1"/>
          </a:solidFill>
          <a:ln w="12700">
            <a:solidFill>
              <a:srgbClr val="6F42C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108192" y="3291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⚡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6611112" y="32918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&amp; Scalability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6108192" y="3685032"/>
            <a:ext cx="2514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&lt;300ms CRUD responses, stateless REST APIs, and a normalized MySQL schema for horizontal scaling.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8503920" y="486460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C757D"/>
                </a:solidFill>
              </a:rPr>
              <a:t>8 / 25</a:t>
            </a:r>
            <a:endParaRPr lang="en-US" sz="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D0271D"/>
          </a:solidFill>
          <a:ln w="12700">
            <a:solidFill>
              <a:srgbClr val="D0271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Feature Access Matrix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960120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Module-level permissions across the three internal roles and the public Careers portal</a:t>
            </a:r>
            <a:endParaRPr lang="en-US" sz="1200" dirty="0"/>
          </a:p>
        </p:txBody>
      </p:sp>
      <p:sp>
        <p:nvSpPr>
          <p:cNvPr id="201" name="Shape"/>
          <p:cNvSpPr/>
          <p:nvPr/>
        </p:nvSpPr>
        <p:spPr>
          <a:xfrm>
            <a:off x="347472" y="960120"/>
            <a:ext cx="2468880" cy="438912"/>
          </a:xfrm>
          <a:prstGeom prst="rect">
            <a:avLst/>
          </a:prstGeom>
          <a:solidFill>
            <a:srgbClr val="1A1A2E"/>
          </a:solidFill>
          <a:ln w="5080">
            <a:solidFill>
              <a:srgbClr val="E9ECEF"/>
            </a:solidFill>
            <a:prstDash val="solid"/>
          </a:ln>
        </p:spPr>
      </p:sp>
      <p:sp>
        <p:nvSpPr>
          <p:cNvPr id="202" name="Text"/>
          <p:cNvSpPr/>
          <p:nvPr/>
        </p:nvSpPr>
        <p:spPr>
          <a:xfrm>
            <a:off x="402336" y="960120"/>
            <a:ext cx="23591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950" dirty="0"/>
          </a:p>
        </p:txBody>
      </p:sp>
      <p:sp>
        <p:nvSpPr>
          <p:cNvPr id="203" name="Shape"/>
          <p:cNvSpPr/>
          <p:nvPr/>
        </p:nvSpPr>
        <p:spPr>
          <a:xfrm>
            <a:off x="2834640" y="960120"/>
            <a:ext cx="1463040" cy="438912"/>
          </a:xfrm>
          <a:prstGeom prst="rect">
            <a:avLst/>
          </a:prstGeom>
          <a:solidFill>
            <a:srgbClr val="343A40"/>
          </a:solidFill>
          <a:ln w="5080">
            <a:solidFill>
              <a:srgbClr val="E9ECEF"/>
            </a:solidFill>
            <a:prstDash val="solid"/>
          </a:ln>
        </p:spPr>
      </p:sp>
      <p:sp>
        <p:nvSpPr>
          <p:cNvPr id="204" name="Text"/>
          <p:cNvSpPr/>
          <p:nvPr/>
        </p:nvSpPr>
        <p:spPr>
          <a:xfrm>
            <a:off x="2889504" y="960120"/>
            <a:ext cx="13533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Admin</a:t>
            </a:r>
            <a:endParaRPr lang="en-US" sz="950" dirty="0"/>
          </a:p>
        </p:txBody>
      </p:sp>
      <p:sp>
        <p:nvSpPr>
          <p:cNvPr id="205" name="Shape"/>
          <p:cNvSpPr/>
          <p:nvPr/>
        </p:nvSpPr>
        <p:spPr>
          <a:xfrm>
            <a:off x="4315968" y="960120"/>
            <a:ext cx="1508760" cy="438912"/>
          </a:xfrm>
          <a:prstGeom prst="rect">
            <a:avLst/>
          </a:prstGeom>
          <a:solidFill>
            <a:srgbClr val="343A40"/>
          </a:solidFill>
          <a:ln w="5080">
            <a:solidFill>
              <a:srgbClr val="E9ECEF"/>
            </a:solidFill>
            <a:prstDash val="solid"/>
          </a:ln>
        </p:spPr>
      </p:sp>
      <p:sp>
        <p:nvSpPr>
          <p:cNvPr id="206" name="Text"/>
          <p:cNvSpPr/>
          <p:nvPr/>
        </p:nvSpPr>
        <p:spPr>
          <a:xfrm>
            <a:off x="4370832" y="960120"/>
            <a:ext cx="13990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</a:t>
            </a:r>
            <a:endParaRPr lang="en-US" sz="950" dirty="0"/>
          </a:p>
        </p:txBody>
      </p:sp>
      <p:sp>
        <p:nvSpPr>
          <p:cNvPr id="207" name="Shape"/>
          <p:cNvSpPr/>
          <p:nvPr/>
        </p:nvSpPr>
        <p:spPr>
          <a:xfrm>
            <a:off x="5833872" y="960120"/>
            <a:ext cx="1691640" cy="438912"/>
          </a:xfrm>
          <a:prstGeom prst="rect">
            <a:avLst/>
          </a:prstGeom>
          <a:solidFill>
            <a:srgbClr val="343A40"/>
          </a:solidFill>
          <a:ln w="5080">
            <a:solidFill>
              <a:srgbClr val="E9ECEF"/>
            </a:solidFill>
            <a:prstDash val="solid"/>
          </a:ln>
        </p:spPr>
      </p:sp>
      <p:sp>
        <p:nvSpPr>
          <p:cNvPr id="208" name="Text"/>
          <p:cNvSpPr/>
          <p:nvPr/>
        </p:nvSpPr>
        <p:spPr>
          <a:xfrm>
            <a:off x="5888736" y="960120"/>
            <a:ext cx="1581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</a:t>
            </a:r>
            <a:endParaRPr lang="en-US" sz="950" dirty="0"/>
          </a:p>
        </p:txBody>
      </p:sp>
      <p:sp>
        <p:nvSpPr>
          <p:cNvPr id="209" name="Shape"/>
          <p:cNvSpPr/>
          <p:nvPr/>
        </p:nvSpPr>
        <p:spPr>
          <a:xfrm>
            <a:off x="7543800" y="960120"/>
            <a:ext cx="1554480" cy="438912"/>
          </a:xfrm>
          <a:prstGeom prst="rect">
            <a:avLst/>
          </a:prstGeom>
          <a:solidFill>
            <a:srgbClr val="D0271D"/>
          </a:solidFill>
          <a:ln w="5080">
            <a:solidFill>
              <a:srgbClr val="E9ECEF"/>
            </a:solidFill>
            <a:prstDash val="solid"/>
          </a:ln>
        </p:spPr>
      </p:sp>
      <p:sp>
        <p:nvSpPr>
          <p:cNvPr id="210" name="Text"/>
          <p:cNvSpPr/>
          <p:nvPr/>
        </p:nvSpPr>
        <p:spPr>
          <a:xfrm>
            <a:off x="7598664" y="960120"/>
            <a:ext cx="14447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</a:t>
            </a:r>
            <a:endParaRPr lang="en-US" sz="950" dirty="0"/>
          </a:p>
        </p:txBody>
      </p:sp>
      <p:sp>
        <p:nvSpPr>
          <p:cNvPr id="211" name="Shape"/>
          <p:cNvSpPr/>
          <p:nvPr/>
        </p:nvSpPr>
        <p:spPr>
          <a:xfrm>
            <a:off x="347472" y="1435608"/>
            <a:ext cx="2468880" cy="438912"/>
          </a:xfrm>
          <a:prstGeom prst="rect">
            <a:avLst/>
          </a:prstGeom>
          <a:solidFill>
            <a:srgbClr val="F8F9FA"/>
          </a:solidFill>
          <a:ln w="5080">
            <a:solidFill>
              <a:srgbClr val="E9ECEF"/>
            </a:solidFill>
            <a:prstDash val="solid"/>
          </a:ln>
        </p:spPr>
      </p:sp>
      <p:sp>
        <p:nvSpPr>
          <p:cNvPr id="212" name="Text"/>
          <p:cNvSpPr/>
          <p:nvPr/>
        </p:nvSpPr>
        <p:spPr>
          <a:xfrm>
            <a:off x="402336" y="1435608"/>
            <a:ext cx="23591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&amp; Login</a:t>
            </a:r>
            <a:endParaRPr lang="en-US" sz="900" dirty="0"/>
          </a:p>
        </p:txBody>
      </p:sp>
      <p:sp>
        <p:nvSpPr>
          <p:cNvPr id="213" name="Shape"/>
          <p:cNvSpPr/>
          <p:nvPr/>
        </p:nvSpPr>
        <p:spPr>
          <a:xfrm>
            <a:off x="2834640" y="1435608"/>
            <a:ext cx="1463040" cy="438912"/>
          </a:xfrm>
          <a:prstGeom prst="rect">
            <a:avLst/>
          </a:prstGeom>
          <a:solidFill>
            <a:srgbClr val="D1E7DD"/>
          </a:solidFill>
          <a:ln w="5080">
            <a:solidFill>
              <a:srgbClr val="E9ECEF"/>
            </a:solidFill>
            <a:prstDash val="solid"/>
          </a:ln>
        </p:spPr>
      </p:sp>
      <p:sp>
        <p:nvSpPr>
          <p:cNvPr id="214" name="Text"/>
          <p:cNvSpPr/>
          <p:nvPr/>
        </p:nvSpPr>
        <p:spPr>
          <a:xfrm>
            <a:off x="2889504" y="1435608"/>
            <a:ext cx="13533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Yes</a:t>
            </a:r>
            <a:endParaRPr lang="en-US" sz="900" dirty="0"/>
          </a:p>
        </p:txBody>
      </p:sp>
      <p:sp>
        <p:nvSpPr>
          <p:cNvPr id="215" name="Shape"/>
          <p:cNvSpPr/>
          <p:nvPr/>
        </p:nvSpPr>
        <p:spPr>
          <a:xfrm>
            <a:off x="4315968" y="1435608"/>
            <a:ext cx="1508760" cy="438912"/>
          </a:xfrm>
          <a:prstGeom prst="rect">
            <a:avLst/>
          </a:prstGeom>
          <a:solidFill>
            <a:srgbClr val="D1E7DD"/>
          </a:solidFill>
          <a:ln w="5080">
            <a:solidFill>
              <a:srgbClr val="E9ECEF"/>
            </a:solidFill>
            <a:prstDash val="solid"/>
          </a:ln>
        </p:spPr>
      </p:sp>
      <p:sp>
        <p:nvSpPr>
          <p:cNvPr id="216" name="Text"/>
          <p:cNvSpPr/>
          <p:nvPr/>
        </p:nvSpPr>
        <p:spPr>
          <a:xfrm>
            <a:off x="4370832" y="1435608"/>
            <a:ext cx="13990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Yes</a:t>
            </a:r>
            <a:endParaRPr lang="en-US" sz="900" dirty="0"/>
          </a:p>
        </p:txBody>
      </p:sp>
      <p:sp>
        <p:nvSpPr>
          <p:cNvPr id="217" name="Shape"/>
          <p:cNvSpPr/>
          <p:nvPr/>
        </p:nvSpPr>
        <p:spPr>
          <a:xfrm>
            <a:off x="5833872" y="1435608"/>
            <a:ext cx="1691640" cy="438912"/>
          </a:xfrm>
          <a:prstGeom prst="rect">
            <a:avLst/>
          </a:prstGeom>
          <a:solidFill>
            <a:srgbClr val="D1E7DD"/>
          </a:solidFill>
          <a:ln w="5080">
            <a:solidFill>
              <a:srgbClr val="E9ECEF"/>
            </a:solidFill>
            <a:prstDash val="solid"/>
          </a:ln>
        </p:spPr>
      </p:sp>
      <p:sp>
        <p:nvSpPr>
          <p:cNvPr id="218" name="Text"/>
          <p:cNvSpPr/>
          <p:nvPr/>
        </p:nvSpPr>
        <p:spPr>
          <a:xfrm>
            <a:off x="5888736" y="1435608"/>
            <a:ext cx="1581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Yes</a:t>
            </a:r>
            <a:endParaRPr lang="en-US" sz="900" dirty="0"/>
          </a:p>
        </p:txBody>
      </p:sp>
      <p:sp>
        <p:nvSpPr>
          <p:cNvPr id="219" name="Shape"/>
          <p:cNvSpPr/>
          <p:nvPr/>
        </p:nvSpPr>
        <p:spPr>
          <a:xfrm>
            <a:off x="7543800" y="1435608"/>
            <a:ext cx="1554480" cy="438912"/>
          </a:xfrm>
          <a:prstGeom prst="rect">
            <a:avLst/>
          </a:prstGeom>
          <a:solidFill>
            <a:srgbClr val="F8D7DA"/>
          </a:solidFill>
          <a:ln w="5080">
            <a:solidFill>
              <a:srgbClr val="E9ECEF"/>
            </a:solidFill>
            <a:prstDash val="solid"/>
          </a:ln>
        </p:spPr>
      </p:sp>
      <p:sp>
        <p:nvSpPr>
          <p:cNvPr id="220" name="Text"/>
          <p:cNvSpPr/>
          <p:nvPr/>
        </p:nvSpPr>
        <p:spPr>
          <a:xfrm>
            <a:off x="7598664" y="1435608"/>
            <a:ext cx="14447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221" name="Shape"/>
          <p:cNvSpPr/>
          <p:nvPr/>
        </p:nvSpPr>
        <p:spPr>
          <a:xfrm>
            <a:off x="347472" y="1911096"/>
            <a:ext cx="2468880" cy="438912"/>
          </a:xfrm>
          <a:prstGeom prst="rect">
            <a:avLst/>
          </a:prstGeom>
          <a:solidFill>
            <a:srgbClr val="FFFFFF"/>
          </a:solidFill>
          <a:ln w="5080">
            <a:solidFill>
              <a:srgbClr val="E9ECEF"/>
            </a:solidFill>
            <a:prstDash val="solid"/>
          </a:ln>
        </p:spPr>
      </p:sp>
      <p:sp>
        <p:nvSpPr>
          <p:cNvPr id="222" name="Text"/>
          <p:cNvSpPr/>
          <p:nvPr/>
        </p:nvSpPr>
        <p:spPr>
          <a:xfrm>
            <a:off x="402336" y="1911096"/>
            <a:ext cx="23591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&amp; Department Mgmt</a:t>
            </a:r>
            <a:endParaRPr lang="en-US" sz="900" dirty="0"/>
          </a:p>
        </p:txBody>
      </p:sp>
      <p:sp>
        <p:nvSpPr>
          <p:cNvPr id="223" name="Shape"/>
          <p:cNvSpPr/>
          <p:nvPr/>
        </p:nvSpPr>
        <p:spPr>
          <a:xfrm>
            <a:off x="2834640" y="1911096"/>
            <a:ext cx="1463040" cy="438912"/>
          </a:xfrm>
          <a:prstGeom prst="rect">
            <a:avLst/>
          </a:prstGeom>
          <a:solidFill>
            <a:srgbClr val="D1E7DD"/>
          </a:solidFill>
          <a:ln w="5080">
            <a:solidFill>
              <a:srgbClr val="E9ECEF"/>
            </a:solidFill>
            <a:prstDash val="solid"/>
          </a:ln>
        </p:spPr>
      </p:sp>
      <p:sp>
        <p:nvSpPr>
          <p:cNvPr id="224" name="Text"/>
          <p:cNvSpPr/>
          <p:nvPr/>
        </p:nvSpPr>
        <p:spPr>
          <a:xfrm>
            <a:off x="2889504" y="1911096"/>
            <a:ext cx="13533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Yes</a:t>
            </a:r>
            <a:endParaRPr lang="en-US" sz="900" dirty="0"/>
          </a:p>
        </p:txBody>
      </p:sp>
      <p:sp>
        <p:nvSpPr>
          <p:cNvPr id="225" name="Shape"/>
          <p:cNvSpPr/>
          <p:nvPr/>
        </p:nvSpPr>
        <p:spPr>
          <a:xfrm>
            <a:off x="4315968" y="1911096"/>
            <a:ext cx="1508760" cy="438912"/>
          </a:xfrm>
          <a:prstGeom prst="rect">
            <a:avLst/>
          </a:prstGeom>
          <a:solidFill>
            <a:srgbClr val="F8D7DA"/>
          </a:solidFill>
          <a:ln w="5080">
            <a:solidFill>
              <a:srgbClr val="E9ECEF"/>
            </a:solidFill>
            <a:prstDash val="solid"/>
          </a:ln>
        </p:spPr>
      </p:sp>
      <p:sp>
        <p:nvSpPr>
          <p:cNvPr id="226" name="Text"/>
          <p:cNvSpPr/>
          <p:nvPr/>
        </p:nvSpPr>
        <p:spPr>
          <a:xfrm>
            <a:off x="4370832" y="1911096"/>
            <a:ext cx="13990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227" name="Shape"/>
          <p:cNvSpPr/>
          <p:nvPr/>
        </p:nvSpPr>
        <p:spPr>
          <a:xfrm>
            <a:off x="5833872" y="1911096"/>
            <a:ext cx="1691640" cy="438912"/>
          </a:xfrm>
          <a:prstGeom prst="rect">
            <a:avLst/>
          </a:prstGeom>
          <a:solidFill>
            <a:srgbClr val="F8D7DA"/>
          </a:solidFill>
          <a:ln w="5080">
            <a:solidFill>
              <a:srgbClr val="E9ECEF"/>
            </a:solidFill>
            <a:prstDash val="solid"/>
          </a:ln>
        </p:spPr>
      </p:sp>
      <p:sp>
        <p:nvSpPr>
          <p:cNvPr id="228" name="Text"/>
          <p:cNvSpPr/>
          <p:nvPr/>
        </p:nvSpPr>
        <p:spPr>
          <a:xfrm>
            <a:off x="5888736" y="1911096"/>
            <a:ext cx="1581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229" name="Shape"/>
          <p:cNvSpPr/>
          <p:nvPr/>
        </p:nvSpPr>
        <p:spPr>
          <a:xfrm>
            <a:off x="7543800" y="1911096"/>
            <a:ext cx="1554480" cy="438912"/>
          </a:xfrm>
          <a:prstGeom prst="rect">
            <a:avLst/>
          </a:prstGeom>
          <a:solidFill>
            <a:srgbClr val="F8D7DA"/>
          </a:solidFill>
          <a:ln w="5080">
            <a:solidFill>
              <a:srgbClr val="E9ECEF"/>
            </a:solidFill>
            <a:prstDash val="solid"/>
          </a:ln>
        </p:spPr>
      </p:sp>
      <p:sp>
        <p:nvSpPr>
          <p:cNvPr id="230" name="Text"/>
          <p:cNvSpPr/>
          <p:nvPr/>
        </p:nvSpPr>
        <p:spPr>
          <a:xfrm>
            <a:off x="7598664" y="1911096"/>
            <a:ext cx="14447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231" name="Shape"/>
          <p:cNvSpPr/>
          <p:nvPr/>
        </p:nvSpPr>
        <p:spPr>
          <a:xfrm>
            <a:off x="347472" y="2386584"/>
            <a:ext cx="2468880" cy="438912"/>
          </a:xfrm>
          <a:prstGeom prst="rect">
            <a:avLst/>
          </a:prstGeom>
          <a:solidFill>
            <a:srgbClr val="F8F9FA"/>
          </a:solidFill>
          <a:ln w="5080">
            <a:solidFill>
              <a:srgbClr val="E9ECEF"/>
            </a:solidFill>
            <a:prstDash val="solid"/>
          </a:ln>
        </p:spPr>
      </p:sp>
      <p:sp>
        <p:nvSpPr>
          <p:cNvPr id="232" name="Text"/>
          <p:cNvSpPr/>
          <p:nvPr/>
        </p:nvSpPr>
        <p:spPr>
          <a:xfrm>
            <a:off x="402336" y="2386584"/>
            <a:ext cx="23591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 Chart &amp; Directory</a:t>
            </a:r>
            <a:endParaRPr lang="en-US" sz="900" dirty="0"/>
          </a:p>
        </p:txBody>
      </p:sp>
      <p:sp>
        <p:nvSpPr>
          <p:cNvPr id="233" name="Shape"/>
          <p:cNvSpPr/>
          <p:nvPr/>
        </p:nvSpPr>
        <p:spPr>
          <a:xfrm>
            <a:off x="2834640" y="2386584"/>
            <a:ext cx="1463040" cy="438912"/>
          </a:xfrm>
          <a:prstGeom prst="rect">
            <a:avLst/>
          </a:prstGeom>
          <a:solidFill>
            <a:srgbClr val="D1E7DD"/>
          </a:solidFill>
          <a:ln w="5080">
            <a:solidFill>
              <a:srgbClr val="E9ECEF"/>
            </a:solidFill>
            <a:prstDash val="solid"/>
          </a:ln>
        </p:spPr>
      </p:sp>
      <p:sp>
        <p:nvSpPr>
          <p:cNvPr id="234" name="Text"/>
          <p:cNvSpPr/>
          <p:nvPr/>
        </p:nvSpPr>
        <p:spPr>
          <a:xfrm>
            <a:off x="2889504" y="2386584"/>
            <a:ext cx="13533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Yes</a:t>
            </a:r>
            <a:endParaRPr lang="en-US" sz="900" dirty="0"/>
          </a:p>
        </p:txBody>
      </p:sp>
      <p:sp>
        <p:nvSpPr>
          <p:cNvPr id="235" name="Shape"/>
          <p:cNvSpPr/>
          <p:nvPr/>
        </p:nvSpPr>
        <p:spPr>
          <a:xfrm>
            <a:off x="4315968" y="2386584"/>
            <a:ext cx="1508760" cy="438912"/>
          </a:xfrm>
          <a:prstGeom prst="rect">
            <a:avLst/>
          </a:prstGeom>
          <a:solidFill>
            <a:srgbClr val="D1E7DD"/>
          </a:solidFill>
          <a:ln w="5080">
            <a:solidFill>
              <a:srgbClr val="E9ECEF"/>
            </a:solidFill>
            <a:prstDash val="solid"/>
          </a:ln>
        </p:spPr>
      </p:sp>
      <p:sp>
        <p:nvSpPr>
          <p:cNvPr id="236" name="Text"/>
          <p:cNvSpPr/>
          <p:nvPr/>
        </p:nvSpPr>
        <p:spPr>
          <a:xfrm>
            <a:off x="4370832" y="2386584"/>
            <a:ext cx="13990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Yes</a:t>
            </a:r>
            <a:endParaRPr lang="en-US" sz="900" dirty="0"/>
          </a:p>
        </p:txBody>
      </p:sp>
      <p:sp>
        <p:nvSpPr>
          <p:cNvPr id="237" name="Shape"/>
          <p:cNvSpPr/>
          <p:nvPr/>
        </p:nvSpPr>
        <p:spPr>
          <a:xfrm>
            <a:off x="5833872" y="2386584"/>
            <a:ext cx="1691640" cy="438912"/>
          </a:xfrm>
          <a:prstGeom prst="rect">
            <a:avLst/>
          </a:prstGeom>
          <a:solidFill>
            <a:srgbClr val="F8D7DA"/>
          </a:solidFill>
          <a:ln w="5080">
            <a:solidFill>
              <a:srgbClr val="E9ECEF"/>
            </a:solidFill>
            <a:prstDash val="solid"/>
          </a:ln>
        </p:spPr>
      </p:sp>
      <p:sp>
        <p:nvSpPr>
          <p:cNvPr id="238" name="Text"/>
          <p:cNvSpPr/>
          <p:nvPr/>
        </p:nvSpPr>
        <p:spPr>
          <a:xfrm>
            <a:off x="5888736" y="2386584"/>
            <a:ext cx="1581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239" name="Shape"/>
          <p:cNvSpPr/>
          <p:nvPr/>
        </p:nvSpPr>
        <p:spPr>
          <a:xfrm>
            <a:off x="7543800" y="2386584"/>
            <a:ext cx="1554480" cy="438912"/>
          </a:xfrm>
          <a:prstGeom prst="rect">
            <a:avLst/>
          </a:prstGeom>
          <a:solidFill>
            <a:srgbClr val="F8D7DA"/>
          </a:solidFill>
          <a:ln w="5080">
            <a:solidFill>
              <a:srgbClr val="E9ECEF"/>
            </a:solidFill>
            <a:prstDash val="solid"/>
          </a:ln>
        </p:spPr>
      </p:sp>
      <p:sp>
        <p:nvSpPr>
          <p:cNvPr id="240" name="Text"/>
          <p:cNvSpPr/>
          <p:nvPr/>
        </p:nvSpPr>
        <p:spPr>
          <a:xfrm>
            <a:off x="7598664" y="2386584"/>
            <a:ext cx="14447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241" name="Shape"/>
          <p:cNvSpPr/>
          <p:nvPr/>
        </p:nvSpPr>
        <p:spPr>
          <a:xfrm>
            <a:off x="347472" y="2862072"/>
            <a:ext cx="2468880" cy="438912"/>
          </a:xfrm>
          <a:prstGeom prst="rect">
            <a:avLst/>
          </a:prstGeom>
          <a:solidFill>
            <a:srgbClr val="FFFFFF"/>
          </a:solidFill>
          <a:ln w="5080">
            <a:solidFill>
              <a:srgbClr val="E9ECEF"/>
            </a:solidFill>
            <a:prstDash val="solid"/>
          </a:ln>
        </p:spPr>
      </p:sp>
      <p:sp>
        <p:nvSpPr>
          <p:cNvPr id="242" name="Text"/>
          <p:cNvSpPr/>
          <p:nvPr/>
        </p:nvSpPr>
        <p:spPr>
          <a:xfrm>
            <a:off x="402336" y="2862072"/>
            <a:ext cx="23591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Management</a:t>
            </a:r>
            <a:endParaRPr lang="en-US" sz="900" dirty="0"/>
          </a:p>
        </p:txBody>
      </p:sp>
      <p:sp>
        <p:nvSpPr>
          <p:cNvPr id="243" name="Shape"/>
          <p:cNvSpPr/>
          <p:nvPr/>
        </p:nvSpPr>
        <p:spPr>
          <a:xfrm>
            <a:off x="2834640" y="2862072"/>
            <a:ext cx="1463040" cy="438912"/>
          </a:xfrm>
          <a:prstGeom prst="rect">
            <a:avLst/>
          </a:prstGeom>
          <a:solidFill>
            <a:srgbClr val="D1E7DD"/>
          </a:solidFill>
          <a:ln w="5080">
            <a:solidFill>
              <a:srgbClr val="E9ECEF"/>
            </a:solidFill>
            <a:prstDash val="solid"/>
          </a:ln>
        </p:spPr>
      </p:sp>
      <p:sp>
        <p:nvSpPr>
          <p:cNvPr id="244" name="Text"/>
          <p:cNvSpPr/>
          <p:nvPr/>
        </p:nvSpPr>
        <p:spPr>
          <a:xfrm>
            <a:off x="2889504" y="2862072"/>
            <a:ext cx="13533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Yes</a:t>
            </a:r>
            <a:endParaRPr lang="en-US" sz="900" dirty="0"/>
          </a:p>
        </p:txBody>
      </p:sp>
      <p:sp>
        <p:nvSpPr>
          <p:cNvPr id="245" name="Shape"/>
          <p:cNvSpPr/>
          <p:nvPr/>
        </p:nvSpPr>
        <p:spPr>
          <a:xfrm>
            <a:off x="4315968" y="2862072"/>
            <a:ext cx="1508760" cy="438912"/>
          </a:xfrm>
          <a:prstGeom prst="rect">
            <a:avLst/>
          </a:prstGeom>
          <a:solidFill>
            <a:srgbClr val="D1E7DD"/>
          </a:solidFill>
          <a:ln w="5080">
            <a:solidFill>
              <a:srgbClr val="E9ECEF"/>
            </a:solidFill>
            <a:prstDash val="solid"/>
          </a:ln>
        </p:spPr>
      </p:sp>
      <p:sp>
        <p:nvSpPr>
          <p:cNvPr id="246" name="Text"/>
          <p:cNvSpPr/>
          <p:nvPr/>
        </p:nvSpPr>
        <p:spPr>
          <a:xfrm>
            <a:off x="4370832" y="2862072"/>
            <a:ext cx="13990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Yes</a:t>
            </a:r>
            <a:endParaRPr lang="en-US" sz="900" dirty="0"/>
          </a:p>
        </p:txBody>
      </p:sp>
      <p:sp>
        <p:nvSpPr>
          <p:cNvPr id="247" name="Shape"/>
          <p:cNvSpPr/>
          <p:nvPr/>
        </p:nvSpPr>
        <p:spPr>
          <a:xfrm>
            <a:off x="5833872" y="2862072"/>
            <a:ext cx="1691640" cy="438912"/>
          </a:xfrm>
          <a:prstGeom prst="rect">
            <a:avLst/>
          </a:prstGeom>
          <a:solidFill>
            <a:srgbClr val="D1E7DD"/>
          </a:solidFill>
          <a:ln w="5080">
            <a:solidFill>
              <a:srgbClr val="E9ECEF"/>
            </a:solidFill>
            <a:prstDash val="solid"/>
          </a:ln>
        </p:spPr>
      </p:sp>
      <p:sp>
        <p:nvSpPr>
          <p:cNvPr id="248" name="Text"/>
          <p:cNvSpPr/>
          <p:nvPr/>
        </p:nvSpPr>
        <p:spPr>
          <a:xfrm>
            <a:off x="5888736" y="2862072"/>
            <a:ext cx="1581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Yes</a:t>
            </a:r>
            <a:endParaRPr lang="en-US" sz="900" dirty="0"/>
          </a:p>
        </p:txBody>
      </p:sp>
      <p:sp>
        <p:nvSpPr>
          <p:cNvPr id="249" name="Shape"/>
          <p:cNvSpPr/>
          <p:nvPr/>
        </p:nvSpPr>
        <p:spPr>
          <a:xfrm>
            <a:off x="7543800" y="2862072"/>
            <a:ext cx="1554480" cy="438912"/>
          </a:xfrm>
          <a:prstGeom prst="rect">
            <a:avLst/>
          </a:prstGeom>
          <a:solidFill>
            <a:srgbClr val="F8D7DA"/>
          </a:solidFill>
          <a:ln w="5080">
            <a:solidFill>
              <a:srgbClr val="E9ECEF"/>
            </a:solidFill>
            <a:prstDash val="solid"/>
          </a:ln>
        </p:spPr>
      </p:sp>
      <p:sp>
        <p:nvSpPr>
          <p:cNvPr id="250" name="Text"/>
          <p:cNvSpPr/>
          <p:nvPr/>
        </p:nvSpPr>
        <p:spPr>
          <a:xfrm>
            <a:off x="7598664" y="2862072"/>
            <a:ext cx="14447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251" name="Shape"/>
          <p:cNvSpPr/>
          <p:nvPr/>
        </p:nvSpPr>
        <p:spPr>
          <a:xfrm>
            <a:off x="347472" y="3337560"/>
            <a:ext cx="2468880" cy="438912"/>
          </a:xfrm>
          <a:prstGeom prst="rect">
            <a:avLst/>
          </a:prstGeom>
          <a:solidFill>
            <a:srgbClr val="F8F9FA"/>
          </a:solidFill>
          <a:ln w="5080">
            <a:solidFill>
              <a:srgbClr val="E9ECEF"/>
            </a:solidFill>
            <a:prstDash val="solid"/>
          </a:ln>
        </p:spPr>
      </p:sp>
      <p:sp>
        <p:nvSpPr>
          <p:cNvPr id="252" name="Text"/>
          <p:cNvSpPr/>
          <p:nvPr/>
        </p:nvSpPr>
        <p:spPr>
          <a:xfrm>
            <a:off x="402336" y="3337560"/>
            <a:ext cx="23591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Tracking</a:t>
            </a:r>
            <a:endParaRPr lang="en-US" sz="900" dirty="0"/>
          </a:p>
        </p:txBody>
      </p:sp>
      <p:sp>
        <p:nvSpPr>
          <p:cNvPr id="253" name="Shape"/>
          <p:cNvSpPr/>
          <p:nvPr/>
        </p:nvSpPr>
        <p:spPr>
          <a:xfrm>
            <a:off x="2834640" y="3337560"/>
            <a:ext cx="1463040" cy="438912"/>
          </a:xfrm>
          <a:prstGeom prst="rect">
            <a:avLst/>
          </a:prstGeom>
          <a:solidFill>
            <a:srgbClr val="D1E7DD"/>
          </a:solidFill>
          <a:ln w="5080">
            <a:solidFill>
              <a:srgbClr val="E9ECEF"/>
            </a:solidFill>
            <a:prstDash val="solid"/>
          </a:ln>
        </p:spPr>
      </p:sp>
      <p:sp>
        <p:nvSpPr>
          <p:cNvPr id="254" name="Text"/>
          <p:cNvSpPr/>
          <p:nvPr/>
        </p:nvSpPr>
        <p:spPr>
          <a:xfrm>
            <a:off x="2889504" y="3337560"/>
            <a:ext cx="13533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Yes</a:t>
            </a:r>
            <a:endParaRPr lang="en-US" sz="900" dirty="0"/>
          </a:p>
        </p:txBody>
      </p:sp>
      <p:sp>
        <p:nvSpPr>
          <p:cNvPr id="255" name="Shape"/>
          <p:cNvSpPr/>
          <p:nvPr/>
        </p:nvSpPr>
        <p:spPr>
          <a:xfrm>
            <a:off x="4315968" y="3337560"/>
            <a:ext cx="1508760" cy="438912"/>
          </a:xfrm>
          <a:prstGeom prst="rect">
            <a:avLst/>
          </a:prstGeom>
          <a:solidFill>
            <a:srgbClr val="D1E7DD"/>
          </a:solidFill>
          <a:ln w="5080">
            <a:solidFill>
              <a:srgbClr val="E9ECEF"/>
            </a:solidFill>
            <a:prstDash val="solid"/>
          </a:ln>
        </p:spPr>
      </p:sp>
      <p:sp>
        <p:nvSpPr>
          <p:cNvPr id="256" name="Text"/>
          <p:cNvSpPr/>
          <p:nvPr/>
        </p:nvSpPr>
        <p:spPr>
          <a:xfrm>
            <a:off x="4370832" y="3337560"/>
            <a:ext cx="13990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Yes</a:t>
            </a:r>
            <a:endParaRPr lang="en-US" sz="900" dirty="0"/>
          </a:p>
        </p:txBody>
      </p:sp>
      <p:sp>
        <p:nvSpPr>
          <p:cNvPr id="257" name="Shape"/>
          <p:cNvSpPr/>
          <p:nvPr/>
        </p:nvSpPr>
        <p:spPr>
          <a:xfrm>
            <a:off x="5833872" y="3337560"/>
            <a:ext cx="1691640" cy="438912"/>
          </a:xfrm>
          <a:prstGeom prst="rect">
            <a:avLst/>
          </a:prstGeom>
          <a:solidFill>
            <a:srgbClr val="D1E7DD"/>
          </a:solidFill>
          <a:ln w="5080">
            <a:solidFill>
              <a:srgbClr val="E9ECEF"/>
            </a:solidFill>
            <a:prstDash val="solid"/>
          </a:ln>
        </p:spPr>
      </p:sp>
      <p:sp>
        <p:nvSpPr>
          <p:cNvPr id="258" name="Text"/>
          <p:cNvSpPr/>
          <p:nvPr/>
        </p:nvSpPr>
        <p:spPr>
          <a:xfrm>
            <a:off x="5888736" y="3337560"/>
            <a:ext cx="1581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Yes</a:t>
            </a:r>
            <a:endParaRPr lang="en-US" sz="900" dirty="0"/>
          </a:p>
        </p:txBody>
      </p:sp>
      <p:sp>
        <p:nvSpPr>
          <p:cNvPr id="259" name="Shape"/>
          <p:cNvSpPr/>
          <p:nvPr/>
        </p:nvSpPr>
        <p:spPr>
          <a:xfrm>
            <a:off x="7543800" y="3337560"/>
            <a:ext cx="1554480" cy="438912"/>
          </a:xfrm>
          <a:prstGeom prst="rect">
            <a:avLst/>
          </a:prstGeom>
          <a:solidFill>
            <a:srgbClr val="F8D7DA"/>
          </a:solidFill>
          <a:ln w="5080">
            <a:solidFill>
              <a:srgbClr val="E9ECEF"/>
            </a:solidFill>
            <a:prstDash val="solid"/>
          </a:ln>
        </p:spPr>
      </p:sp>
      <p:sp>
        <p:nvSpPr>
          <p:cNvPr id="260" name="Text"/>
          <p:cNvSpPr/>
          <p:nvPr/>
        </p:nvSpPr>
        <p:spPr>
          <a:xfrm>
            <a:off x="7598664" y="3337560"/>
            <a:ext cx="14447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261" name="Shape"/>
          <p:cNvSpPr/>
          <p:nvPr/>
        </p:nvSpPr>
        <p:spPr>
          <a:xfrm>
            <a:off x="347472" y="3813048"/>
            <a:ext cx="2468880" cy="438912"/>
          </a:xfrm>
          <a:prstGeom prst="rect">
            <a:avLst/>
          </a:prstGeom>
          <a:solidFill>
            <a:srgbClr val="FFFFFF"/>
          </a:solidFill>
          <a:ln w="5080">
            <a:solidFill>
              <a:srgbClr val="E9ECEF"/>
            </a:solidFill>
            <a:prstDash val="solid"/>
          </a:ln>
        </p:spPr>
      </p:sp>
      <p:sp>
        <p:nvSpPr>
          <p:cNvPr id="262" name="Text"/>
          <p:cNvSpPr/>
          <p:nvPr/>
        </p:nvSpPr>
        <p:spPr>
          <a:xfrm>
            <a:off x="402336" y="3813048"/>
            <a:ext cx="23591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Evaluation</a:t>
            </a:r>
            <a:endParaRPr lang="en-US" sz="900" dirty="0"/>
          </a:p>
        </p:txBody>
      </p:sp>
      <p:sp>
        <p:nvSpPr>
          <p:cNvPr id="263" name="Shape"/>
          <p:cNvSpPr/>
          <p:nvPr/>
        </p:nvSpPr>
        <p:spPr>
          <a:xfrm>
            <a:off x="2834640" y="3813048"/>
            <a:ext cx="1463040" cy="438912"/>
          </a:xfrm>
          <a:prstGeom prst="rect">
            <a:avLst/>
          </a:prstGeom>
          <a:solidFill>
            <a:srgbClr val="D1E7DD"/>
          </a:solidFill>
          <a:ln w="5080">
            <a:solidFill>
              <a:srgbClr val="E9ECEF"/>
            </a:solidFill>
            <a:prstDash val="solid"/>
          </a:ln>
        </p:spPr>
      </p:sp>
      <p:sp>
        <p:nvSpPr>
          <p:cNvPr id="264" name="Text"/>
          <p:cNvSpPr/>
          <p:nvPr/>
        </p:nvSpPr>
        <p:spPr>
          <a:xfrm>
            <a:off x="2889504" y="3813048"/>
            <a:ext cx="13533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Yes</a:t>
            </a:r>
            <a:endParaRPr lang="en-US" sz="900" dirty="0"/>
          </a:p>
        </p:txBody>
      </p:sp>
      <p:sp>
        <p:nvSpPr>
          <p:cNvPr id="265" name="Shape"/>
          <p:cNvSpPr/>
          <p:nvPr/>
        </p:nvSpPr>
        <p:spPr>
          <a:xfrm>
            <a:off x="4315968" y="3813048"/>
            <a:ext cx="1508760" cy="438912"/>
          </a:xfrm>
          <a:prstGeom prst="rect">
            <a:avLst/>
          </a:prstGeom>
          <a:solidFill>
            <a:srgbClr val="D1E7DD"/>
          </a:solidFill>
          <a:ln w="5080">
            <a:solidFill>
              <a:srgbClr val="E9ECEF"/>
            </a:solidFill>
            <a:prstDash val="solid"/>
          </a:ln>
        </p:spPr>
      </p:sp>
      <p:sp>
        <p:nvSpPr>
          <p:cNvPr id="266" name="Text"/>
          <p:cNvSpPr/>
          <p:nvPr/>
        </p:nvSpPr>
        <p:spPr>
          <a:xfrm>
            <a:off x="4370832" y="3813048"/>
            <a:ext cx="13990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Yes</a:t>
            </a:r>
            <a:endParaRPr lang="en-US" sz="900" dirty="0"/>
          </a:p>
        </p:txBody>
      </p:sp>
      <p:sp>
        <p:nvSpPr>
          <p:cNvPr id="267" name="Shape"/>
          <p:cNvSpPr/>
          <p:nvPr/>
        </p:nvSpPr>
        <p:spPr>
          <a:xfrm>
            <a:off x="5833872" y="3813048"/>
            <a:ext cx="1691640" cy="438912"/>
          </a:xfrm>
          <a:prstGeom prst="rect">
            <a:avLst/>
          </a:prstGeom>
          <a:solidFill>
            <a:srgbClr val="F8D7DA"/>
          </a:solidFill>
          <a:ln w="5080">
            <a:solidFill>
              <a:srgbClr val="E9ECEF"/>
            </a:solidFill>
            <a:prstDash val="solid"/>
          </a:ln>
        </p:spPr>
      </p:sp>
      <p:sp>
        <p:nvSpPr>
          <p:cNvPr id="268" name="Text"/>
          <p:cNvSpPr/>
          <p:nvPr/>
        </p:nvSpPr>
        <p:spPr>
          <a:xfrm>
            <a:off x="5888736" y="3813048"/>
            <a:ext cx="1581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269" name="Shape"/>
          <p:cNvSpPr/>
          <p:nvPr/>
        </p:nvSpPr>
        <p:spPr>
          <a:xfrm>
            <a:off x="7543800" y="3813048"/>
            <a:ext cx="1554480" cy="438912"/>
          </a:xfrm>
          <a:prstGeom prst="rect">
            <a:avLst/>
          </a:prstGeom>
          <a:solidFill>
            <a:srgbClr val="F8D7DA"/>
          </a:solidFill>
          <a:ln w="5080">
            <a:solidFill>
              <a:srgbClr val="E9ECEF"/>
            </a:solidFill>
            <a:prstDash val="solid"/>
          </a:ln>
        </p:spPr>
      </p:sp>
      <p:sp>
        <p:nvSpPr>
          <p:cNvPr id="270" name="Text"/>
          <p:cNvSpPr/>
          <p:nvPr/>
        </p:nvSpPr>
        <p:spPr>
          <a:xfrm>
            <a:off x="7598664" y="3813048"/>
            <a:ext cx="14447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271" name="Shape"/>
          <p:cNvSpPr/>
          <p:nvPr/>
        </p:nvSpPr>
        <p:spPr>
          <a:xfrm>
            <a:off x="347472" y="4288536"/>
            <a:ext cx="2468880" cy="438912"/>
          </a:xfrm>
          <a:prstGeom prst="rect">
            <a:avLst/>
          </a:prstGeom>
          <a:solidFill>
            <a:srgbClr val="F8F9FA"/>
          </a:solidFill>
          <a:ln w="5080">
            <a:solidFill>
              <a:srgbClr val="E9ECEF"/>
            </a:solidFill>
            <a:prstDash val="solid"/>
          </a:ln>
        </p:spPr>
      </p:sp>
      <p:sp>
        <p:nvSpPr>
          <p:cNvPr id="272" name="Text"/>
          <p:cNvSpPr/>
          <p:nvPr/>
        </p:nvSpPr>
        <p:spPr>
          <a:xfrm>
            <a:off x="402336" y="4288536"/>
            <a:ext cx="23591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 Advance Requests</a:t>
            </a:r>
            <a:endParaRPr lang="en-US" sz="900" dirty="0"/>
          </a:p>
        </p:txBody>
      </p:sp>
      <p:sp>
        <p:nvSpPr>
          <p:cNvPr id="273" name="Shape"/>
          <p:cNvSpPr/>
          <p:nvPr/>
        </p:nvSpPr>
        <p:spPr>
          <a:xfrm>
            <a:off x="2834640" y="4288536"/>
            <a:ext cx="1463040" cy="438912"/>
          </a:xfrm>
          <a:prstGeom prst="rect">
            <a:avLst/>
          </a:prstGeom>
          <a:solidFill>
            <a:srgbClr val="D1E7DD"/>
          </a:solidFill>
          <a:ln w="5080">
            <a:solidFill>
              <a:srgbClr val="E9ECEF"/>
            </a:solidFill>
            <a:prstDash val="solid"/>
          </a:ln>
        </p:spPr>
      </p:sp>
      <p:sp>
        <p:nvSpPr>
          <p:cNvPr id="274" name="Text"/>
          <p:cNvSpPr/>
          <p:nvPr/>
        </p:nvSpPr>
        <p:spPr>
          <a:xfrm>
            <a:off x="2889504" y="4288536"/>
            <a:ext cx="13533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Yes</a:t>
            </a:r>
            <a:endParaRPr lang="en-US" sz="900" dirty="0"/>
          </a:p>
        </p:txBody>
      </p:sp>
      <p:sp>
        <p:nvSpPr>
          <p:cNvPr id="275" name="Shape"/>
          <p:cNvSpPr/>
          <p:nvPr/>
        </p:nvSpPr>
        <p:spPr>
          <a:xfrm>
            <a:off x="4315968" y="4288536"/>
            <a:ext cx="1508760" cy="438912"/>
          </a:xfrm>
          <a:prstGeom prst="rect">
            <a:avLst/>
          </a:prstGeom>
          <a:solidFill>
            <a:srgbClr val="F8D7DA"/>
          </a:solidFill>
          <a:ln w="5080">
            <a:solidFill>
              <a:srgbClr val="E9ECEF"/>
            </a:solidFill>
            <a:prstDash val="solid"/>
          </a:ln>
        </p:spPr>
      </p:sp>
      <p:sp>
        <p:nvSpPr>
          <p:cNvPr id="276" name="Text"/>
          <p:cNvSpPr/>
          <p:nvPr/>
        </p:nvSpPr>
        <p:spPr>
          <a:xfrm>
            <a:off x="4370832" y="4288536"/>
            <a:ext cx="13990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277" name="Shape"/>
          <p:cNvSpPr/>
          <p:nvPr/>
        </p:nvSpPr>
        <p:spPr>
          <a:xfrm>
            <a:off x="5833872" y="4288536"/>
            <a:ext cx="1691640" cy="438912"/>
          </a:xfrm>
          <a:prstGeom prst="rect">
            <a:avLst/>
          </a:prstGeom>
          <a:solidFill>
            <a:srgbClr val="D1E7DD"/>
          </a:solidFill>
          <a:ln w="5080">
            <a:solidFill>
              <a:srgbClr val="E9ECEF"/>
            </a:solidFill>
            <a:prstDash val="solid"/>
          </a:ln>
        </p:spPr>
      </p:sp>
      <p:sp>
        <p:nvSpPr>
          <p:cNvPr id="278" name="Text"/>
          <p:cNvSpPr/>
          <p:nvPr/>
        </p:nvSpPr>
        <p:spPr>
          <a:xfrm>
            <a:off x="5888736" y="4288536"/>
            <a:ext cx="1581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Yes</a:t>
            </a:r>
            <a:endParaRPr lang="en-US" sz="900" dirty="0"/>
          </a:p>
        </p:txBody>
      </p:sp>
      <p:sp>
        <p:nvSpPr>
          <p:cNvPr id="279" name="Shape"/>
          <p:cNvSpPr/>
          <p:nvPr/>
        </p:nvSpPr>
        <p:spPr>
          <a:xfrm>
            <a:off x="7543800" y="4288536"/>
            <a:ext cx="1554480" cy="438912"/>
          </a:xfrm>
          <a:prstGeom prst="rect">
            <a:avLst/>
          </a:prstGeom>
          <a:solidFill>
            <a:srgbClr val="F8D7DA"/>
          </a:solidFill>
          <a:ln w="5080">
            <a:solidFill>
              <a:srgbClr val="E9ECEF"/>
            </a:solidFill>
            <a:prstDash val="solid"/>
          </a:ln>
        </p:spPr>
      </p:sp>
      <p:sp>
        <p:nvSpPr>
          <p:cNvPr id="280" name="Text"/>
          <p:cNvSpPr/>
          <p:nvPr/>
        </p:nvSpPr>
        <p:spPr>
          <a:xfrm>
            <a:off x="7598664" y="4288536"/>
            <a:ext cx="14447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281" name="Shape"/>
          <p:cNvSpPr/>
          <p:nvPr/>
        </p:nvSpPr>
        <p:spPr>
          <a:xfrm>
            <a:off x="347472" y="4764024"/>
            <a:ext cx="2468880" cy="438912"/>
          </a:xfrm>
          <a:prstGeom prst="rect">
            <a:avLst/>
          </a:prstGeom>
          <a:solidFill>
            <a:srgbClr val="FFFFFF"/>
          </a:solidFill>
          <a:ln w="5080">
            <a:solidFill>
              <a:srgbClr val="E9ECEF"/>
            </a:solidFill>
            <a:prstDash val="solid"/>
          </a:ln>
        </p:spPr>
      </p:sp>
      <p:sp>
        <p:nvSpPr>
          <p:cNvPr id="282" name="Text"/>
          <p:cNvSpPr/>
          <p:nvPr/>
        </p:nvSpPr>
        <p:spPr>
          <a:xfrm>
            <a:off x="402336" y="4764024"/>
            <a:ext cx="23591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Reports, Config &amp; Careers</a:t>
            </a:r>
            <a:endParaRPr lang="en-US" sz="900" dirty="0"/>
          </a:p>
        </p:txBody>
      </p:sp>
      <p:sp>
        <p:nvSpPr>
          <p:cNvPr id="283" name="Shape"/>
          <p:cNvSpPr/>
          <p:nvPr/>
        </p:nvSpPr>
        <p:spPr>
          <a:xfrm>
            <a:off x="2834640" y="4764024"/>
            <a:ext cx="1463040" cy="438912"/>
          </a:xfrm>
          <a:prstGeom prst="rect">
            <a:avLst/>
          </a:prstGeom>
          <a:solidFill>
            <a:srgbClr val="D1E7DD"/>
          </a:solidFill>
          <a:ln w="5080">
            <a:solidFill>
              <a:srgbClr val="E9ECEF"/>
            </a:solidFill>
            <a:prstDash val="solid"/>
          </a:ln>
        </p:spPr>
      </p:sp>
      <p:sp>
        <p:nvSpPr>
          <p:cNvPr id="284" name="Text"/>
          <p:cNvSpPr/>
          <p:nvPr/>
        </p:nvSpPr>
        <p:spPr>
          <a:xfrm>
            <a:off x="2889504" y="4764024"/>
            <a:ext cx="13533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Yes</a:t>
            </a:r>
            <a:endParaRPr lang="en-US" sz="900" dirty="0"/>
          </a:p>
        </p:txBody>
      </p:sp>
      <p:sp>
        <p:nvSpPr>
          <p:cNvPr id="285" name="Shape"/>
          <p:cNvSpPr/>
          <p:nvPr/>
        </p:nvSpPr>
        <p:spPr>
          <a:xfrm>
            <a:off x="4315968" y="4764024"/>
            <a:ext cx="1508760" cy="438912"/>
          </a:xfrm>
          <a:prstGeom prst="rect">
            <a:avLst/>
          </a:prstGeom>
          <a:solidFill>
            <a:srgbClr val="F8D7DA"/>
          </a:solidFill>
          <a:ln w="5080">
            <a:solidFill>
              <a:srgbClr val="E9ECEF"/>
            </a:solidFill>
            <a:prstDash val="solid"/>
          </a:ln>
        </p:spPr>
      </p:sp>
      <p:sp>
        <p:nvSpPr>
          <p:cNvPr id="286" name="Text"/>
          <p:cNvSpPr/>
          <p:nvPr/>
        </p:nvSpPr>
        <p:spPr>
          <a:xfrm>
            <a:off x="4370832" y="4764024"/>
            <a:ext cx="13990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287" name="Shape"/>
          <p:cNvSpPr/>
          <p:nvPr/>
        </p:nvSpPr>
        <p:spPr>
          <a:xfrm>
            <a:off x="5833872" y="4764024"/>
            <a:ext cx="1691640" cy="438912"/>
          </a:xfrm>
          <a:prstGeom prst="rect">
            <a:avLst/>
          </a:prstGeom>
          <a:solidFill>
            <a:srgbClr val="F8D7DA"/>
          </a:solidFill>
          <a:ln w="5080">
            <a:solidFill>
              <a:srgbClr val="E9ECEF"/>
            </a:solidFill>
            <a:prstDash val="solid"/>
          </a:ln>
        </p:spPr>
      </p:sp>
      <p:sp>
        <p:nvSpPr>
          <p:cNvPr id="288" name="Text"/>
          <p:cNvSpPr/>
          <p:nvPr/>
        </p:nvSpPr>
        <p:spPr>
          <a:xfrm>
            <a:off x="5888736" y="4764024"/>
            <a:ext cx="1581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289" name="Shape"/>
          <p:cNvSpPr/>
          <p:nvPr/>
        </p:nvSpPr>
        <p:spPr>
          <a:xfrm>
            <a:off x="7543800" y="4764024"/>
            <a:ext cx="1554480" cy="438912"/>
          </a:xfrm>
          <a:prstGeom prst="rect">
            <a:avLst/>
          </a:prstGeom>
          <a:solidFill>
            <a:srgbClr val="D1E7DD"/>
          </a:solidFill>
          <a:ln w="5080">
            <a:solidFill>
              <a:srgbClr val="E9ECEF"/>
            </a:solidFill>
            <a:prstDash val="solid"/>
          </a:ln>
        </p:spPr>
      </p:sp>
      <p:sp>
        <p:nvSpPr>
          <p:cNvPr id="290" name="Text"/>
          <p:cNvSpPr/>
          <p:nvPr/>
        </p:nvSpPr>
        <p:spPr>
          <a:xfrm>
            <a:off x="7598664" y="4764024"/>
            <a:ext cx="14447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Yes</a:t>
            </a:r>
            <a:endParaRPr lang="en-US" sz="900" dirty="0"/>
          </a:p>
        </p:txBody>
      </p:sp>
      <p:sp>
        <p:nvSpPr>
          <p:cNvPr id="96" name="Text 94"/>
          <p:cNvSpPr/>
          <p:nvPr/>
        </p:nvSpPr>
        <p:spPr>
          <a:xfrm>
            <a:off x="8503920" y="486460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C757D"/>
                </a:solidFill>
              </a:rPr>
              <a:t>16 / 25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Nexus HCM v2 — Internship Defense</dc:title>
  <dc:subject>PptxGenJS Presentation</dc:subject>
  <dc:creator>GHARIANI Mohamed Amine</dc:creator>
  <cp:lastModifiedBy>GHARIANI Mohamed Amine</cp:lastModifiedBy>
  <cp:revision>1</cp:revision>
  <dcterms:created xsi:type="dcterms:W3CDTF">2026-06-07T16:07:13Z</dcterms:created>
  <dcterms:modified xsi:type="dcterms:W3CDTF">2026-06-07T16:07:13Z</dcterms:modified>
</cp:coreProperties>
</file>